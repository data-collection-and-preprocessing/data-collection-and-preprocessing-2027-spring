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776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charset="-122" panose="020B0503020204020204" pitchFamily="34" typeface="Microsoft YaHei"/>
                <a:ea charset="-122" panose="020B0503020204020204" pitchFamily="34" typeface="Microsoft YaHei"/>
              </a:defRPr>
            </a:lvl1pPr>
          </a:lstStyle>
          <a:p>
            <a:fld id="{241EB5C9-1307-BA42-ABA2-0BC069CD8E7F}" type="datetimeFigureOut">
              <a:rPr lang="en-US" smtClean="0"/>
              <a:pPr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charset="-122" panose="020B0503020204020204" pitchFamily="34" typeface="Microsoft YaHei"/>
                <a:ea charset="-122" panose="020B0503020204020204" pitchFamily="34" typeface="Microsoft YaHei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charset="-122" panose="020B0503020204020204" pitchFamily="34" typeface="Microsoft YaHei"/>
                <a:ea charset="-122" panose="020B0503020204020204" pitchFamily="34" typeface="Microsoft YaHei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ata-collection-and-preprocessing.github.io/Data-collection-and-preprocessing-2027-Spring/lectures/lecture-0107.html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happygitwithr.com/" TargetMode="External" /><Relationship Id="rId3" Type="http://schemas.openxmlformats.org/officeDocument/2006/relationships/hyperlink" Target="https://git-scm.com/book/zh/v2" TargetMode="External" /><Relationship Id="rId4" Type="http://schemas.openxmlformats.org/officeDocument/2006/relationships/hyperlink" Target="https://docs.github.com/en/get-started/quickstart/hello-world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版本控制与协作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Huaqing Liu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第七讲：版本控制与协作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第七章 在线版本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本章学习目标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理解</a:t>
            </a:r>
            <a:r>
              <a:rPr/>
              <a:t>版本控制的核心思想与 Git 的工作区、暂存区、仓库三区模型</a:t>
            </a:r>
          </a:p>
          <a:p>
            <a:pPr lvl="0"/>
            <a:r>
              <a:rPr b="1"/>
              <a:t>掌握</a:t>
            </a:r>
            <a:r>
              <a:rPr/>
              <a:t> Git 基本命令：init、add、commit、push、pull、log</a:t>
            </a:r>
          </a:p>
          <a:p>
            <a:pPr lvl="0"/>
            <a:r>
              <a:rPr b="1"/>
              <a:t>了解</a:t>
            </a:r>
            <a:r>
              <a:rPr/>
              <a:t> GitHub 协作模式（Collaborator 与 Fork+PR）及合并冲突解决</a:t>
            </a:r>
          </a:p>
          <a:p>
            <a:pPr lvl="0"/>
            <a:r>
              <a:rPr b="1"/>
              <a:t>能够应用</a:t>
            </a:r>
            <a:r>
              <a:rPr/>
              <a:t> RStudio 内置 Git 面板进行日常版本管理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内容概览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为什么需要版本控制</a:t>
            </a:r>
          </a:p>
          <a:p>
            <a:pPr lvl="0" indent="-342900" marL="342900">
              <a:buAutoNum type="arabicPeriod"/>
            </a:pPr>
            <a:r>
              <a:rPr/>
              <a:t>Git 核心概念与基本命令</a:t>
            </a:r>
          </a:p>
          <a:p>
            <a:pPr lvl="0" indent="-342900" marL="342900">
              <a:buAutoNum type="arabicPeriod"/>
            </a:pPr>
            <a:r>
              <a:rPr/>
              <a:t>GitHub 远程协作</a:t>
            </a:r>
          </a:p>
          <a:p>
            <a:pPr lvl="0" indent="-342900" marL="342900">
              <a:buAutoNum type="arabicPeriod"/>
            </a:pPr>
            <a:r>
              <a:rPr/>
              <a:t>合并冲突解决与项目规范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核心概念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本地 vs 远程仓库</a:t>
            </a:r>
            <a:r>
              <a:rPr/>
              <a:t>：本地仓库在你电脑上，远程仓库（如 GitHub）用于备份与协作</a:t>
            </a:r>
          </a:p>
          <a:p>
            <a:pPr lvl="0"/>
            <a:r>
              <a:rPr b="1"/>
              <a:t>暂存区（Staging Area）</a:t>
            </a:r>
            <a:r>
              <a:rPr/>
              <a:t>：</a:t>
            </a:r>
            <a:r>
              <a:rPr>
                <a:latin typeface="Courier"/>
              </a:rPr>
              <a:t>git add</a:t>
            </a:r>
            <a:r>
              <a:rPr/>
              <a:t> 将文件放入暂存区，</a:t>
            </a:r>
            <a:r>
              <a:rPr>
                <a:latin typeface="Courier"/>
              </a:rPr>
              <a:t>git commit</a:t>
            </a:r>
            <a:r>
              <a:rPr/>
              <a:t> 才正式记录——这提供了精确控制提交内容的能力</a:t>
            </a:r>
          </a:p>
          <a:p>
            <a:pPr lvl="0"/>
            <a:r>
              <a:rPr b="1"/>
              <a:t>合并冲突（Merge Conflict）</a:t>
            </a:r>
            <a:r>
              <a:rPr/>
              <a:t>：当两人修改同一文件同一位置时产生，需手动选择保留哪个版本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常用工具与方法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命令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用途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示例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git init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初始化仓库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git init my-project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git clone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克隆远程仓库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git clone URL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git add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添加到暂存区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git add file.R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git commit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提交变更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git commit -m "msg"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git push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推送到远程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git push origin main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git pull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拉取远程更新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git pull origin main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git log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查看提交历史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git log --oneline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git diff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查看差异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git diff file.R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代码示例：Git 基本工作流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初始化并完成第一次提交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init my-project</a:t>
            </a:r>
            <a:br/>
            <a:r>
              <a:rPr>
                <a:solidFill>
                  <a:srgbClr val="008000"/>
                </a:solidFill>
                <a:latin typeface="Courier"/>
              </a:rPr>
              <a:t>cd</a:t>
            </a:r>
            <a:r>
              <a:rPr>
                <a:latin typeface="Courier"/>
              </a:rPr>
              <a:t> my-project</a:t>
            </a:r>
            <a:br/>
            <a:r>
              <a:rPr>
                <a:solidFill>
                  <a:srgbClr val="008000"/>
                </a:solidFill>
                <a:latin typeface="Courier"/>
              </a:rPr>
              <a:t>echo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"# My Project"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README.md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add README.md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commit </a:t>
            </a:r>
            <a:r>
              <a:rPr>
                <a:solidFill>
                  <a:srgbClr val="7D9029"/>
                </a:solidFill>
                <a:latin typeface="Courier"/>
              </a:rPr>
              <a:t>-m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"docs: add README"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连接远程仓库并推送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remote add origin https://github.com/user/repo.git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push </a:t>
            </a:r>
            <a:r>
              <a:rPr>
                <a:solidFill>
                  <a:srgbClr val="7D9029"/>
                </a:solidFill>
                <a:latin typeface="Courier"/>
              </a:rPr>
              <a:t>-u</a:t>
            </a:r>
            <a:r>
              <a:rPr>
                <a:latin typeface="Courier"/>
              </a:rPr>
              <a:t> origin main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实践要点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提交信息要有意义：用 </a:t>
            </a:r>
            <a:r>
              <a:rPr>
                <a:latin typeface="Courier"/>
              </a:rPr>
              <a:t>fix: 修复数据读取编码问题</a:t>
            </a:r>
            <a:r>
              <a:rPr/>
              <a:t> 而非 </a:t>
            </a:r>
            <a:r>
              <a:rPr>
                <a:latin typeface="Courier"/>
              </a:rPr>
              <a:t>update</a:t>
            </a:r>
          </a:p>
          <a:p>
            <a:pPr lvl="0"/>
            <a:r>
              <a:rPr>
                <a:latin typeface="Courier"/>
              </a:rPr>
              <a:t>.gitignore</a:t>
            </a:r>
            <a:r>
              <a:rPr/>
              <a:t> 文件排除不需要跟踪的内容：</a:t>
            </a:r>
            <a:r>
              <a:rPr>
                <a:latin typeface="Courier"/>
              </a:rPr>
              <a:t>.Rhistory</a:t>
            </a:r>
            <a:r>
              <a:rPr/>
              <a:t>、</a:t>
            </a:r>
            <a:r>
              <a:rPr>
                <a:latin typeface="Courier"/>
              </a:rPr>
              <a:t>.DS_Store</a:t>
            </a:r>
            <a:r>
              <a:rPr/>
              <a:t>、</a:t>
            </a:r>
            <a:r>
              <a:rPr>
                <a:latin typeface="Courier"/>
              </a:rPr>
              <a:t>data/raw/</a:t>
            </a:r>
            <a:r>
              <a:rPr/>
              <a:t>（大文件）</a:t>
            </a:r>
          </a:p>
          <a:p>
            <a:pPr lvl="0"/>
            <a:r>
              <a:rPr/>
              <a:t>养成”小步提交”习惯——每完成一个小功能就 commit，而非一天结束时一次性提交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常见问题与解答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Q1：</a:t>
            </a:r>
            <a:r>
              <a:rPr b="1">
                <a:latin typeface="Courier"/>
              </a:rPr>
              <a:t>git push</a:t>
            </a:r>
            <a:r>
              <a:rPr b="1"/>
              <a:t> 被拒绝（rejected）怎么办？</a:t>
            </a:r>
          </a:p>
          <a:p>
            <a:pPr lvl="0" indent="0" marL="0">
              <a:buNone/>
            </a:pPr>
            <a:r>
              <a:rPr/>
              <a:t>A：通常是因为远程有你本地没有的更新。先执行 </a:t>
            </a:r>
            <a:r>
              <a:rPr>
                <a:latin typeface="Courier"/>
              </a:rPr>
              <a:t>git pull</a:t>
            </a:r>
            <a:r>
              <a:rPr/>
              <a:t> 合并远程更改，解决可能的冲突后再 </a:t>
            </a:r>
            <a:r>
              <a:rPr>
                <a:latin typeface="Courier"/>
              </a:rPr>
              <a:t>git push</a:t>
            </a:r>
            <a:r>
              <a:rPr/>
              <a:t>。</a:t>
            </a: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0">
              <a:buNone/>
            </a:pPr>
            <a:r>
              <a:rPr b="1"/>
              <a:t>Q2：不小心把不该提交的文件 commit 了怎么办？</a:t>
            </a:r>
          </a:p>
          <a:p>
            <a:pPr lvl="0" indent="0" marL="0">
              <a:buNone/>
            </a:pPr>
            <a:r>
              <a:rPr/>
              <a:t>A：将文件加入 </a:t>
            </a:r>
            <a:r>
              <a:rPr>
                <a:latin typeface="Courier"/>
              </a:rPr>
              <a:t>.gitignore</a:t>
            </a:r>
            <a:r>
              <a:rPr/>
              <a:t>，然后执行 </a:t>
            </a:r>
            <a:r>
              <a:rPr>
                <a:latin typeface="Courier"/>
              </a:rPr>
              <a:t>git rm --cached filename</a:t>
            </a:r>
            <a:r>
              <a:rPr/>
              <a:t> 从跟踪中移除（不删除本地文件），再重新提交即可。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本章小结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版本控制解决了”final_final_FINAL.docx”问题——Git 记录每次变更，随时可回溯</a:t>
            </a:r>
          </a:p>
          <a:p>
            <a:pPr lvl="0" indent="-342900" marL="342900">
              <a:buAutoNum type="arabicPeriod"/>
            </a:pPr>
            <a:r>
              <a:rPr/>
              <a:t>工作区 → 暂存区 → 仓库的三步流程是 Git 的核心模型，</a:t>
            </a:r>
            <a:r>
              <a:rPr>
                <a:latin typeface="Courier"/>
              </a:rPr>
              <a:t>add</a:t>
            </a:r>
            <a:r>
              <a:rPr/>
              <a:t> 和 </a:t>
            </a:r>
            <a:r>
              <a:rPr>
                <a:latin typeface="Courier"/>
              </a:rPr>
              <a:t>commit</a:t>
            </a:r>
            <a:r>
              <a:rPr/>
              <a:t> 缺一不可</a:t>
            </a:r>
          </a:p>
          <a:p>
            <a:pPr lvl="0" indent="-342900" marL="342900">
              <a:buAutoNum type="arabicPeriod"/>
            </a:pPr>
            <a:r>
              <a:rPr/>
              <a:t>GitHub 既是代码备份平台也是协作平台，掌握 push/pull 是团队协作的基础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课后任务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必做</a:t>
            </a:r>
            <a:r>
              <a:rPr/>
              <a:t>：创建一个本地 Git 仓库，完成至少 3 次有意义的 commit，推送到 GitHub</a:t>
            </a:r>
          </a:p>
          <a:p>
            <a:pPr lvl="0" indent="-342900" marL="342900">
              <a:buAutoNum type="arabicPeriod"/>
            </a:pPr>
            <a:r>
              <a:rPr b="1"/>
              <a:t>必做</a:t>
            </a:r>
            <a:r>
              <a:rPr/>
              <a:t>：编写一个 </a:t>
            </a:r>
            <a:r>
              <a:rPr>
                <a:latin typeface="Courier"/>
              </a:rPr>
              <a:t>.gitignore</a:t>
            </a:r>
            <a:r>
              <a:rPr/>
              <a:t> 文件，排除 </a:t>
            </a:r>
            <a:r>
              <a:rPr>
                <a:latin typeface="Courier"/>
              </a:rPr>
              <a:t>.Rhistory</a:t>
            </a:r>
            <a:r>
              <a:rPr/>
              <a:t>、</a:t>
            </a:r>
            <a:r>
              <a:rPr>
                <a:latin typeface="Courier"/>
              </a:rPr>
              <a:t>*.html</a:t>
            </a:r>
            <a:r>
              <a:rPr/>
              <a:t>、</a:t>
            </a:r>
            <a:r>
              <a:rPr>
                <a:latin typeface="Courier"/>
              </a:rPr>
              <a:t>data/raw/</a:t>
            </a:r>
            <a:r>
              <a:rPr/>
              <a:t> 等内容</a:t>
            </a:r>
          </a:p>
          <a:p>
            <a:pPr lvl="0" indent="-342900" marL="342900">
              <a:buAutoNum type="arabicPeriod"/>
            </a:pPr>
            <a:r>
              <a:rPr b="1"/>
              <a:t>选做</a:t>
            </a:r>
            <a:r>
              <a:rPr/>
              <a:t>：与同学模拟协作——两人修改同一文件，制造并解决一次合并冲突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延伸阅读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hlinkClick r:id="rId2"/>
              </a:rPr>
              <a:t>Happy Git and GitHub for the useR</a:t>
            </a:r>
          </a:p>
          <a:p>
            <a:pPr lvl="0"/>
            <a:r>
              <a:rPr>
                <a:hlinkClick r:id="rId3"/>
              </a:rPr>
              <a:t>Pro Git Book (免费在线版)</a:t>
            </a:r>
          </a:p>
          <a:p>
            <a:pPr lvl="0"/>
            <a:r>
              <a:rPr>
                <a:hlinkClick r:id="rId4"/>
              </a:rPr>
              <a:t>GitHub Docs - Hello World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46</Words>
  <Application>Microsoft Macintosh PowerPoint</Application>
  <PresentationFormat>全屏显示(16:9)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Microsoft YaHei</vt:lpstr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版本控制与协作</dc:title>
  <dc:creator>Huaqing Liu</dc:creator>
  <cp:keywords/>
  <dcterms:created xsi:type="dcterms:W3CDTF">2026-03-31T08:55:09Z</dcterms:created>
  <dcterms:modified xsi:type="dcterms:W3CDTF">2026-03-31T08:55:09Z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ibliography">
    <vt:lpwstr/>
  </property>
  <property fmtid="{D5CDD505-2E9C-101B-9397-08002B2CF9AE}" pid="5" name="by-author">
    <vt:lpwstr/>
  </property>
  <property fmtid="{D5CDD505-2E9C-101B-9397-08002B2CF9AE}" pid="6" name="engines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toc-title">
    <vt:lpwstr>Table of contents</vt:lpwstr>
  </property>
</Properties>
</file>