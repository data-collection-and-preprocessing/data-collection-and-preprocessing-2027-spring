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数据质量控制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0303 数据质量控制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教材章节：0303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数据质量控制在可重复性研究中的核心地位</a:t>
            </a:r>
          </a:p>
          <a:p>
            <a:pPr lvl="0"/>
            <a:r>
              <a:rPr/>
              <a:t>掌握 数据验证（范围检查、一致性检查）的基本方法</a:t>
            </a:r>
          </a:p>
          <a:p>
            <a:pPr lvl="0"/>
            <a:r>
              <a:rPr/>
              <a:t>了解 元数据记录规范、数据存储格式选择与数据字典编写</a:t>
            </a:r>
          </a:p>
          <a:p>
            <a:pPr lvl="0"/>
            <a:r>
              <a:rPr/>
              <a:t>能够应用 质量控制检查清单对数据集进行系统评估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：数据验证——范围检查与一致性检查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：元数据记录规范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：数据存储格式选择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：数据字典与质量检查清单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：数据验证（Data Validation）：通过规则检查确保数据值在合理范围内且逻辑一致</a:t>
            </a:r>
          </a:p>
          <a:p>
            <a:pPr lvl="0"/>
            <a:r>
              <a:rPr b="1"/>
              <a:t>概念二</a:t>
            </a:r>
            <a:r>
              <a:rPr/>
              <a:t>：元数据（Metadata）：描述数据的数据，包括采集时间、地点、方法、人员等背景信息</a:t>
            </a:r>
          </a:p>
          <a:p>
            <a:pPr lvl="0"/>
            <a:r>
              <a:rPr b="1"/>
              <a:t>概念三</a:t>
            </a:r>
            <a:r>
              <a:rPr/>
              <a:t>：数据字典（Codebook）：对数据集中每个变量的名称、类型、单位、取值范围和含义的系统说明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数据质量控制的核心原则：原始数据只读、处理过程可追溯、中间产物可重建。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验证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范围检查函数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检测数值是否在合理区间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验证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一致性检查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检测变量间的逻辑矛盾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元数据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README.md 模板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记录数据集的背景信息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存储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CSV / RDS / 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不同场景的数据存储格式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文档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数据字典生成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系统描述每个变量的定义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数据存储格式对比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适用场景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通用、人类可读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不保留类型信息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数据共享与交换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保留 R 对象完整信息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仅限 R 使用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项目中间产物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直观、支持多 sheet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易被手动修改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非编程用户交换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高压缩、快速读取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需额外包支持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大数据集存储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代码示例：数据验证函数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(tidyverse)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范围检查与一致性检查</a:t>
            </a:r>
            <a:br/>
            <a:r>
              <a:rPr>
                <a:latin typeface="Courier"/>
              </a:rPr>
              <a:t>validate_soil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(data) {</a:t>
            </a:r>
            <a:br/>
            <a:r>
              <a:rPr>
                <a:latin typeface="Courier"/>
              </a:rPr>
              <a:t>  issues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()</a:t>
            </a:r>
            <a:br/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pH 范围检查（0-14）</a:t>
            </a:r>
            <a:br/>
            <a:r>
              <a:rPr>
                <a:latin typeface="Courier"/>
              </a:rPr>
              <a:t>  bad_ph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(ph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ph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(bad_ph)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issues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ph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paste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(bad_ph), </a:t>
            </a:r>
            <a:r>
              <a:rPr>
                <a:solidFill>
                  <a:srgbClr val="4070A0"/>
                </a:solidFill>
                <a:latin typeface="Courier"/>
              </a:rPr>
              <a:t>"条 pH 超出范围"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有机碳不能为负</a:t>
            </a:r>
            <a:br/>
            <a:r>
              <a:rPr>
                <a:latin typeface="Courier"/>
              </a:rPr>
              <a:t>  bad_oc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(organic_carbon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(bad_oc)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issues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oc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paste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(bad_oc), </a:t>
            </a:r>
            <a:r>
              <a:rPr>
                <a:solidFill>
                  <a:srgbClr val="4070A0"/>
                </a:solidFill>
                <a:latin typeface="Courier"/>
              </a:rPr>
              <a:t>"条有机碳为负值"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百分比之和检查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70A0"/>
                </a:solidFill>
                <a:latin typeface="Courier"/>
              </a:rPr>
              <a:t>"clay_pct"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%in%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names</a:t>
            </a:r>
            <a:r>
              <a:rPr>
                <a:latin typeface="Courier"/>
              </a:rPr>
              <a:t>(data) </a:t>
            </a:r>
            <a:r>
              <a:rPr>
                <a:solidFill>
                  <a:srgbClr val="4070A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"sand_pct"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%in%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names</a:t>
            </a:r>
            <a:r>
              <a:rPr>
                <a:latin typeface="Courier"/>
              </a:rPr>
              <a:t>(data)) {</a:t>
            </a:r>
            <a:br/>
            <a:r>
              <a:rPr>
                <a:latin typeface="Courier"/>
              </a:rPr>
              <a:t>    bad_pct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(clay_pct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sand_pct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(bad_pct)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issues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pct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paste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(bad_pct), </a:t>
            </a:r>
            <a:r>
              <a:rPr>
                <a:solidFill>
                  <a:srgbClr val="4070A0"/>
                </a:solidFill>
                <a:latin typeface="Courier"/>
              </a:rPr>
              <a:t>"条粒径百分比超100%"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}</a:t>
            </a:r>
            <a:br/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(issues) </a:t>
            </a:r>
            <a:r>
              <a:rPr>
                <a:solidFill>
                  <a:srgbClr val="4070A0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"所有验证通过\n"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{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"发现问题：\n"</a:t>
            </a:r>
            <a:r>
              <a:rPr>
                <a:latin typeface="Courier"/>
              </a:rPr>
              <a:t>); </a:t>
            </a:r>
            <a:r>
              <a:rPr>
                <a:solidFill>
                  <a:srgbClr val="06287E"/>
                </a:solidFill>
                <a:latin typeface="Courier"/>
              </a:rPr>
              <a:t>walk</a:t>
            </a:r>
            <a:r>
              <a:rPr>
                <a:latin typeface="Courier"/>
              </a:rPr>
              <a:t>(issues,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 -"</a:t>
            </a:r>
            <a:r>
              <a:rPr>
                <a:latin typeface="Courier"/>
              </a:rPr>
              <a:t>, .x,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)) 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invisible</a:t>
            </a:r>
            <a:r>
              <a:rPr>
                <a:latin typeface="Courier"/>
              </a:rPr>
              <a:t>(issues)</a:t>
            </a:r>
            <a:br/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元数据记录要素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要素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项目名称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研究项目标题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喀斯特土壤碳氮调查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采集时间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数据采集日期范围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2027-03-01 至 2027-05-15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采集地点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地理坐标与区域描述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广西木论保护区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采集方法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采样协议与仪器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土壤钻取，0-30cm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采集人员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数据采集参与者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张三、李四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变量说明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每个变量的定义与单位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SOC: 土壤有机碳 (g/kg)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质量控制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已执行的质控措施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双录入、范围检查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许可协议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数据使用授权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CC-BY 4.0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质量控制黄金法则</a:t>
            </a:r>
          </a:p>
          <a:p>
            <a:pPr lvl="0" indent="-342900" marL="342900">
              <a:buAutoNum type="arabicPeriod"/>
            </a:pPr>
            <a:r>
              <a:rPr b="1"/>
              <a:t>原始数据只读</a:t>
            </a:r>
            <a:r>
              <a:rPr/>
              <a:t>：永远不修改 </a:t>
            </a:r>
            <a:r>
              <a:rPr>
                <a:latin typeface="Courier"/>
              </a:rPr>
              <a:t>data/raw/</a:t>
            </a:r>
            <a:r>
              <a:rPr/>
              <a:t> 中的文件</a:t>
            </a:r>
          </a:p>
          <a:p>
            <a:pPr lvl="0" indent="-342900" marL="342900">
              <a:buAutoNum type="arabicPeriod"/>
            </a:pPr>
            <a:r>
              <a:rPr b="1"/>
              <a:t>处理过程可追溯</a:t>
            </a:r>
            <a:r>
              <a:rPr/>
              <a:t>：所有操作用代码记录，不做手动修改</a:t>
            </a:r>
          </a:p>
          <a:p>
            <a:pPr lvl="0" indent="-342900" marL="342900">
              <a:buAutoNum type="arabicPeriod"/>
            </a:pPr>
            <a:r>
              <a:rPr b="1"/>
              <a:t>中间产物可重建</a:t>
            </a:r>
            <a:r>
              <a:rPr/>
              <a:t>：清洗后的数据可从原始数据 + 代码重新生成</a:t>
            </a:r>
          </a:p>
          <a:p>
            <a:pPr lvl="0" indent="0">
              <a:buNone/>
            </a:pPr>
            <a:r>
              <a:rPr>
                <a:latin typeface="Courier"/>
              </a:rPr>
              <a:t>data/raw/soil_survey.csv      ← 只读，不修改
scripts/01-data-cleaning.R    ← 清洗代码（可追溯）
data/processed/soil_clean.csv ← 可重建（删掉也能重新生成）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质量检查清单（10 项）</a:t>
            </a:r>
          </a:p>
          <a:p>
            <a:pPr lvl="0" indent="0">
              <a:buNone/>
            </a:pPr>
            <a:r>
              <a:rPr>
                <a:latin typeface="Courier"/>
              </a:rPr>
              <a:t>□ 1. 原始数据已备份且设为只读
□ 2. 所有变量名使用 snake_case 且含义清晰
□ 3. 数值变量均在合理范围内
□ 4. 分类变量的水平（levels）无拼写错误
□ 5. 日期格式统一为 ISO 8601（YYYY-MM-DD）
□ 6. 缺失值已标记并说明处理方式
□ 7. 异常值已标记并说明判断依据
□ 8. 元数据（README.md）完整
□ 9. 数据字典已编写
□ 10. 清洗代码可从头到尾无报错运行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：先标记后处理——对可疑数据添加 flag 列标记，保留原始值，方便回溯和敏感性分析</a:t>
            </a:r>
          </a:p>
          <a:p>
            <a:pPr lvl="0"/>
            <a:r>
              <a:rPr b="1"/>
              <a:t>要点二</a:t>
            </a:r>
            <a:r>
              <a:rPr/>
              <a:t>：元数据与数据同步维护——每次更新数据时同步更新 README.md 和数据字典</a:t>
            </a:r>
          </a:p>
          <a:p>
            <a:pPr lvl="0"/>
            <a:r>
              <a:rPr b="1"/>
              <a:t>要点三</a:t>
            </a:r>
            <a:r>
              <a:rPr/>
              <a:t>：使用 RDS 保存 R 项目的中间数据（保留类型信息），用 CSV 进行跨平台共享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：数据字典需要写到多详细？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：至少包含：变量名、数据类型、单位、取值范围、缺失值编码、简要说明。如果变量是派生的（如 C/N 比），还需说明计算公式和来源变量。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：CSV 和 RDS 应该选哪个？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：项目内部工作流用 RDS（保留因子水平、日期类型等 R 特有信息）；需要与他人共享或跨软件使用时用 CSV。建议两者都保存：</a:t>
            </a:r>
            <a:r>
              <a:rPr>
                <a:latin typeface="Courier"/>
              </a:rPr>
              <a:t>data/processed/</a:t>
            </a:r>
            <a:r>
              <a:rPr/>
              <a:t> 放 RDS，</a:t>
            </a:r>
            <a:r>
              <a:rPr>
                <a:latin typeface="Courier"/>
              </a:rPr>
              <a:t>data/shared/</a:t>
            </a:r>
            <a:r>
              <a:rPr/>
              <a:t> 放 CSV。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数据验证通过范围检查和一致性检查确保数据值的合理性，是发现错误的第一道防线</a:t>
            </a:r>
          </a:p>
          <a:p>
            <a:pPr lvl="0" indent="-342900" marL="342900">
              <a:buAutoNum type="arabicPeriod"/>
            </a:pPr>
            <a:r>
              <a:rPr/>
              <a:t>完整的元数据和数据字典是数据可复用的前提，遵循”原始只读、过程可追溯、产物可重建”三大原则</a:t>
            </a:r>
          </a:p>
          <a:p>
            <a:pPr lvl="0" indent="-342900" marL="342900">
              <a:buAutoNum type="arabicPeriod"/>
            </a:pPr>
            <a:r>
              <a:rPr/>
              <a:t>质量检查清单提供了系统化的评估框架，提交数据前逐项确认可大幅减少质量问题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为你的数据集编写一个 </a:t>
            </a:r>
            <a:r>
              <a:rPr>
                <a:latin typeface="Courier"/>
              </a:rPr>
              <a:t>validate_data()</a:t>
            </a:r>
            <a:r>
              <a:rPr/>
              <a:t> 函数，包含至少 3 项范围检查</a:t>
            </a:r>
          </a:p>
          <a:p>
            <a:pPr lvl="0"/>
            <a:r>
              <a:rPr/>
              <a:t>撰写数据集的 README.md 元数据文件，覆盖 8 个必要要素</a:t>
            </a:r>
          </a:p>
          <a:p>
            <a:pPr lvl="0"/>
            <a:r>
              <a:rPr b="1"/>
              <a:t>选做</a:t>
            </a:r>
            <a:r>
              <a:rPr/>
              <a:t>：为数据集生成完整的数据字典（codebook），包含每个变量的定义、类型、单位和取值范围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Wilkinson et al. 2016 - FAIR 数据原则</a:t>
            </a:r>
          </a:p>
          <a:p>
            <a:pPr lvl="0"/>
            <a:r>
              <a:rPr/>
              <a:t>Broman &amp; Woo 2018, </a:t>
            </a:r>
            <a:r>
              <a:rPr i="1"/>
              <a:t>The American Statistician</a:t>
            </a:r>
            <a:r>
              <a:rPr/>
              <a:t> - 数据组织最佳实践</a:t>
            </a:r>
          </a:p>
          <a:p>
            <a:pPr lvl="0"/>
            <a:r>
              <a:rPr/>
              <a:t>R </a:t>
            </a:r>
            <a:r>
              <a:rPr>
                <a:latin typeface="Courier"/>
              </a:rPr>
              <a:t>codebook</a:t>
            </a:r>
            <a:r>
              <a:rPr/>
              <a:t> 包文档 - 自动生成数据字典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数据质量控制</dc:title>
  <dc:creator>Huaqing Liu</dc:creator>
  <cp:keywords/>
  <dcterms:created xsi:type="dcterms:W3CDTF">2026-03-31T08:55:37Z</dcterms:created>
  <dcterms:modified xsi:type="dcterms:W3CDTF">2026-03-31T08:55:37Z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