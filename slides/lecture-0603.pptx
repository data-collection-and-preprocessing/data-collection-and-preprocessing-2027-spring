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课程总结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0603 课程总结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教材章节：0603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课程五大模块的知识体系与相互联系</a:t>
            </a:r>
          </a:p>
          <a:p>
            <a:pPr lvl="0"/>
            <a:r>
              <a:rPr/>
              <a:t>掌握 从课程技能到科研应用的迁移方法</a:t>
            </a:r>
          </a:p>
          <a:p>
            <a:pPr lvl="0"/>
            <a:r>
              <a:rPr/>
              <a:t>了解 常见陷阱与最佳实践</a:t>
            </a:r>
          </a:p>
          <a:p>
            <a:pPr lvl="0"/>
            <a:r>
              <a:rPr/>
              <a:t>能够应用 自评检查清单评估自己的学习成果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：课程知识图谱回顾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：模块间的联系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：常见陷阱与最佳实践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：从课程到科研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/>
            <a:r>
              <a:rPr b="1"/>
              <a:t>概念一</a:t>
            </a:r>
            <a:r>
              <a:rPr/>
              <a:t>：数据生命周期——从研究问题到知识发现的完整链条：采集 → 清洗 → 分析 → 可视化 → 报告</a:t>
            </a:r>
          </a:p>
          <a:p>
            <a:pPr lvl="0"/>
            <a:r>
              <a:rPr b="1"/>
              <a:t>概念二</a:t>
            </a:r>
            <a:r>
              <a:rPr/>
              <a:t>：可重复性研究——代码驱动、版本控制、环境记录，确保任何人可以复现你的分析结果</a:t>
            </a:r>
          </a:p>
          <a:p>
            <a:pPr lvl="0"/>
            <a:r>
              <a:rPr b="1"/>
              <a:t>概念三</a:t>
            </a:r>
            <a:r>
              <a:rPr/>
              <a:t>：FAIR 原则——Findable（可发现）、Accessible（可获取）、Interoperable（可互操作）、Reusable（可复用）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课程的核心不是某个具体工具，而是数据驱动的科研思维方式。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五大模块回顾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章节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关键技能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基础篇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0101-0107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语言、tidyverse、Git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0201-0208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观测、实验、API、Meta 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数据处理篇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0301-0303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清洗、特征工程、质量控制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0501-0502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ggplot2、EDA 八步流程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实践篇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0601-0603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项目框架、团队协作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模块联系流程图</a:t>
            </a:r>
          </a:p>
          <a:p>
            <a:pPr lvl="0" indent="0">
              <a:buNone/>
            </a:pPr>
            <a:r>
              <a:rPr>
                <a:latin typeface="Courier"/>
              </a:rPr>
              <a:t>研究问题
    ↓
数据采集（观测/实验/公开数据/API）
    ↓
数据清洗（缺失值/异常值/格式统一）
    ↓
特征工程（变量变换/新特征构造）
    ↓
探索性分析（EDA 八步）
    ↓
数据可视化（ggplot2 出版级图表）
    ↓
报告撰写（Quarto 可重复性文档）
    ↓
版本控制（Git 协作与归档）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技能领域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核心工具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课程章节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编程基础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R、tidyverse、管道操作符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0105-0106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数据采集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样方法、API、rgbif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0202-0205, 0208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数据清洗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dplyr、naniar、lubridate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0301-0303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ggplot2、corrplot、patchwork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0501-0502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版本控制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Git、GitHub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0107, 0602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文档撰写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0104, 0602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常见陷阱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陷阱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正确做法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直接在 Excel 中修改原始数据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用代码处理，保留原始文件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先填充缺失值再处理异常值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先处理异常值再填充缺失值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使用红绿配色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使用 viridis 色盲友好配色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图表无坐标轴标签和单位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所有轴标签包含变量名和单位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协作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用微信传代码文件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 Git + GitHub 协作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协作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提交信息写”修改了一些东西”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 Conventional Commits 规范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代码示例：课程技能综合运用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(tidyverse)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(patchwork)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完整的数据分析流程（课程所有技能的综合）</a:t>
            </a:r>
            <a:br/>
            <a:r>
              <a:rPr>
                <a:latin typeface="Courier"/>
              </a:rPr>
              <a:t>raw_data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"data/raw/survey.csv"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0105: 数据读取</a:t>
            </a:r>
            <a:br/>
            <a:br/>
            <a:r>
              <a:rPr>
                <a:latin typeface="Courier"/>
              </a:rPr>
              <a:t>clean_data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raw_data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0106: 管道操作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    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0301: 去重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latin typeface="Courier"/>
              </a:rPr>
              <a:t>(ph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ph </a:t>
            </a:r>
            <a:r>
              <a:rPr>
                <a:solidFill>
                  <a:srgbClr val="4070A0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0301: 异常值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log_soc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(soc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0302: 变换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cn_ratio =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tn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0302: 特征构造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>
                <a:latin typeface="Courier"/>
              </a:rPr>
              <a:t>summary_stats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clean_data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0502: EDA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(land_use)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(soc, ph),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 =</a:t>
            </a:r>
            <a:r>
              <a:rPr>
                <a:latin typeface="Courier"/>
              </a:rPr>
              <a:t> mean, </a:t>
            </a:r>
            <a:r>
              <a:rPr>
                <a:solidFill>
                  <a:srgbClr val="7D9029"/>
                </a:solidFill>
                <a:latin typeface="Courier"/>
              </a:rPr>
              <a:t>sd =</a:t>
            </a:r>
            <a:r>
              <a:rPr>
                <a:latin typeface="Courier"/>
              </a:rPr>
              <a:t> sd)))</a:t>
            </a:r>
            <a:br/>
            <a:br/>
            <a:r>
              <a:rPr>
                <a:latin typeface="Courier"/>
              </a:rPr>
              <a:t>p1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(clean_data,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land_use,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soc))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theme_minimal</a:t>
            </a:r>
            <a:r>
              <a:rPr>
                <a:latin typeface="Courier"/>
              </a:rPr>
              <a:t>()            </a:t>
            </a:r>
            <a:r>
              <a:rPr i="1">
                <a:solidFill>
                  <a:srgbClr val="60A0B0"/>
                </a:solidFill>
                <a:latin typeface="Courier"/>
              </a:rPr>
              <a:t># 0501: 可视化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ggsave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"output/figures/fig1.pdf"</a:t>
            </a:r>
            <a:r>
              <a:rPr>
                <a:latin typeface="Courier"/>
              </a:rPr>
              <a:t>, p1)         </a:t>
            </a:r>
            <a:r>
              <a:rPr i="1">
                <a:solidFill>
                  <a:srgbClr val="60A0B0"/>
                </a:solidFill>
                <a:latin typeface="Courier"/>
              </a:rPr>
              <a:t># 0501: 导出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核心技能自评清单</a:t>
            </a:r>
          </a:p>
          <a:p>
            <a:pPr lvl="0" indent="0">
              <a:buNone/>
            </a:pPr>
            <a:r>
              <a:rPr>
                <a:latin typeface="Courier"/>
              </a:rPr>
              <a:t>□ 能用 R 读取、清洗、分析数据（tidyverse 五大动词）
□ 能用 ggplot2 绑制散点图、箱线图、直方图等常见图表
□ 能执行完整的 EDA 八步流程
□ 能使用 Git 进行版本控制和团队协作
□ 能用 Quarto 撰写可重复性分析报告
□ 能从 GBIF 等公开数据库获取数据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从课程到科研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课程技能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科研应用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+ tidyverse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数据处理与统计分析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ggplot2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论文图表制作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Git + 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代码版本管理与协作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可重复性论文与报告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EDA 流程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数据质量把控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Meta 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文献定量综合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：数据质量决定一切——Garbage In, Garbage Out 是永恒的真理</a:t>
            </a:r>
          </a:p>
          <a:p>
            <a:pPr lvl="0"/>
            <a:r>
              <a:rPr b="1"/>
              <a:t>要点二</a:t>
            </a:r>
            <a:r>
              <a:rPr/>
              <a:t>：可重复性不是可选的——代码驱动、版本控制、环境记录是现代科研的基本要求</a:t>
            </a:r>
          </a:p>
          <a:p>
            <a:pPr lvl="0"/>
            <a:r>
              <a:rPr b="1"/>
              <a:t>要点三</a:t>
            </a:r>
            <a:r>
              <a:rPr/>
              <a:t>：持续学习、持续实践——课程结束是你数据科学旅程的起点，不是终点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保持好奇心，遇到新数据类型或新分析需求时，先搜索 R 包和教程，再动手实践。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：课程结束后如何继续提升数据分析能力？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：推荐三条路径：(1) 阅读 </a:t>
            </a:r>
            <a:r>
              <a:rPr i="1"/>
              <a:t>R for Data Science</a:t>
            </a:r>
            <a:r>
              <a:rPr/>
              <a:t> 系统巩固；(2) 在自己的研究中应用课程技能；(3) 参与 TidyTuesday 等开源数据分析社区活动。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：课程中学的 R 代码在实际科研中够用吗？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：课程覆盖了数据处理和可视化的核心技能，足以应对大多数生态学数据分析需求。如需进阶（如混合效应模型、空间分析、贝叶斯统计），建议学习对应的专门课程或教材。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课程五大模块（基础、采集、处理、可视化、实践）覆盖了数据生命周期的完整链条</a:t>
            </a:r>
          </a:p>
          <a:p>
            <a:pPr lvl="0" indent="-342900" marL="342900">
              <a:buAutoNum type="arabicPeriod"/>
            </a:pPr>
            <a:r>
              <a:rPr/>
              <a:t>数据质量和可重复性是贯穿所有模块的核心原则</a:t>
            </a:r>
          </a:p>
          <a:p>
            <a:pPr lvl="0" indent="-342900" marL="342900">
              <a:buAutoNum type="arabicPeriod"/>
            </a:pPr>
            <a:r>
              <a:rPr/>
              <a:t>课程结束是数据科学之旅的起点——持续学习、持续实践、持续改进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推荐资源</a:t>
            </a:r>
          </a:p>
          <a:p>
            <a:pPr lvl="0"/>
            <a:r>
              <a:rPr/>
              <a:t>Wickham &amp; Grolemund (2023). </a:t>
            </a:r>
            <a:r>
              <a:rPr i="1"/>
              <a:t>R for Data Science</a:t>
            </a:r>
            <a:r>
              <a:rPr/>
              <a:t> (2e). https://r4ds.hadley.nz/</a:t>
            </a:r>
          </a:p>
          <a:p>
            <a:pPr lvl="0"/>
            <a:r>
              <a:rPr/>
              <a:t>Wickham (2016). </a:t>
            </a:r>
            <a:r>
              <a:rPr i="1"/>
              <a:t>ggplot2: Elegant Graphics for Data Analysis</a:t>
            </a:r>
            <a:r>
              <a:rPr/>
              <a:t>. https://ggplot2-book.org/</a:t>
            </a:r>
          </a:p>
          <a:p>
            <a:pPr lvl="0"/>
            <a:r>
              <a:rPr/>
              <a:t>Borcard et al. (2018). </a:t>
            </a:r>
            <a:r>
              <a:rPr i="1"/>
              <a:t>Numerical Ecology with R</a:t>
            </a:r>
            <a:r>
              <a:rPr/>
              <a:t>. Springer.</a:t>
            </a:r>
          </a:p>
          <a:p>
            <a:pPr lvl="0"/>
            <a:r>
              <a:rPr/>
              <a:t>Quarto 官方文档：https://quarto.org/</a:t>
            </a:r>
          </a:p>
          <a:p>
            <a:pPr lvl="0"/>
            <a:r>
              <a:rPr/>
              <a:t>TidyTuesday 社区：https://github.com/rfordatascience/tidytuesday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结语</a:t>
            </a:r>
          </a:p>
          <a:p>
            <a:pPr lvl="0" indent="0" marL="1270000">
              <a:buNone/>
            </a:pPr>
            <a:r>
              <a:rPr sz="2000"/>
              <a:t>数据是科学研究的基石。 掌握数据采集与预处理的技能， 你就拥有了将原始观察转化为科学知识的能力。</a:t>
            </a:r>
          </a:p>
          <a:p>
            <a:pPr lvl="0" indent="0" marL="0">
              <a:buNone/>
            </a:pPr>
            <a:r>
              <a:rPr b="1"/>
              <a:t>祝各位同学在未来的科研道路上一帆风顺！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课程总结</dc:title>
  <dc:creator>Huaqing Liu</dc:creator>
  <cp:keywords/>
  <dcterms:created xsi:type="dcterms:W3CDTF">2026-03-31T08:55:52Z</dcterms:created>
  <dcterms:modified xsi:type="dcterms:W3CDTF">2026-03-31T08:55:52Z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