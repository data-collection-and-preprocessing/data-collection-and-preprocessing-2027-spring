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-collection-and-preprocessing.github.io/Data-collection-and-preprocessing-2027-Spring/lectures/lecture-0106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tidyr.tidyverse.org/articles/pivot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数据处理进阶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第六讲：R 数据处理进阶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第六章 在线版本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</a:t>
            </a:r>
            <a:r>
              <a:rPr/>
              <a:t> tidy data 的三原则与管道操作符的设计思想</a:t>
            </a:r>
          </a:p>
          <a:p>
            <a:pPr lvl="0"/>
            <a:r>
              <a:rPr b="1"/>
              <a:t>掌握</a:t>
            </a:r>
            <a:r>
              <a:rPr/>
              <a:t> dplyr 五大动词与 tidyr 数据重塑操作</a:t>
            </a:r>
          </a:p>
          <a:p>
            <a:pPr lvl="0"/>
            <a:r>
              <a:rPr b="1"/>
              <a:t>了解</a:t>
            </a:r>
            <a:r>
              <a:rPr/>
              <a:t> tidyverse 生态系统的核心包及其分工</a:t>
            </a:r>
          </a:p>
          <a:p>
            <a:pPr lvl="0"/>
            <a:r>
              <a:rPr b="1"/>
              <a:t>能够应用</a:t>
            </a:r>
            <a:r>
              <a:rPr/>
              <a:t>管道操作符串联多步数据处理流程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tidyverse 生态系统与管道操作符</a:t>
            </a:r>
          </a:p>
          <a:p>
            <a:pPr lvl="0" indent="-342900" marL="342900">
              <a:buAutoNum type="arabicPeriod"/>
            </a:pPr>
            <a:r>
              <a:rPr/>
              <a:t>dplyr 五大动词：filter、select、mutate、arrange、summarise</a:t>
            </a:r>
          </a:p>
          <a:p>
            <a:pPr lvl="0" indent="-342900" marL="342900">
              <a:buAutoNum type="arabicPeriod"/>
            </a:pPr>
            <a:r>
              <a:rPr/>
              <a:t>tidyr 数据重塑：pivot_longer 与 pivot_wider</a:t>
            </a:r>
          </a:p>
          <a:p>
            <a:pPr lvl="0" indent="-342900" marL="342900">
              <a:buAutoNum type="arabicPeriod"/>
            </a:pPr>
            <a:r>
              <a:rPr/>
              <a:t>数据连接（join）与综合实践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Tidy Data（整洁数据）</a:t>
            </a:r>
            <a:r>
              <a:rPr/>
              <a:t>：每个变量占一列，每个观测占一行，每个值占一个单元格</a:t>
            </a:r>
          </a:p>
          <a:p>
            <a:pPr lvl="0"/>
            <a:r>
              <a:rPr b="1"/>
              <a:t>管道操作符 </a:t>
            </a:r>
            <a:r>
              <a:rPr b="1">
                <a:latin typeface="Courier"/>
              </a:rPr>
              <a:t>|&gt;</a:t>
            </a:r>
            <a:r>
              <a:rPr/>
              <a:t>：将左侧结果传递为右侧函数的第一个参数，读作”然后”</a:t>
            </a:r>
          </a:p>
          <a:p>
            <a:pPr lvl="0"/>
            <a:r>
              <a:rPr b="1"/>
              <a:t>长格式 vs 宽格式</a:t>
            </a:r>
            <a:r>
              <a:rPr/>
              <a:t>：长格式便于分析与绘图，宽格式便于展示与阅读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筛选行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filter(df, age &gt; 18)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选择列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select(df, name, score)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新增/修改列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mutate(df, bmi = w/h^2)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排序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arrange(df, desc(score))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summarise()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汇总统计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summarise(df, m = mean(x))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宽转长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多列合并为 key-value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长转宽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key-value 展开为多列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left_join()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左连接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按共同列合并两表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代码示例：管道式数据处理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实践要点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管道操作符 </a:t>
            </a:r>
            <a:r>
              <a:rPr>
                <a:latin typeface="Courier"/>
              </a:rPr>
              <a:t>|&gt;</a:t>
            </a:r>
            <a:r>
              <a:rPr/>
              <a:t> 让代码从左到右、从上到下阅读，避免嵌套函数的”由内向外”阅读困难</a:t>
            </a:r>
          </a:p>
          <a:p>
            <a:pPr lvl="0"/>
            <a:r>
              <a:rPr>
                <a:latin typeface="Courier"/>
              </a:rPr>
              <a:t>group_by() + summarise()</a:t>
            </a:r>
            <a:r>
              <a:rPr/>
              <a:t> 是分组统计的标准模式，记得先分组再汇总</a:t>
            </a:r>
          </a:p>
          <a:p>
            <a:pPr lvl="0"/>
            <a:r>
              <a:rPr/>
              <a:t>数据连接（join）前务必检查主键是否唯一，避免行数意外膨胀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常见问题与解答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Q1：</a:t>
            </a:r>
            <a:r>
              <a:rPr b="1">
                <a:latin typeface="Courier"/>
              </a:rPr>
              <a:t>|&gt;</a:t>
            </a:r>
            <a:r>
              <a:rPr b="1"/>
              <a:t> 和 </a:t>
            </a:r>
            <a:r>
              <a:rPr b="1">
                <a:latin typeface="Courier"/>
              </a:rPr>
              <a:t>%&gt;%</a:t>
            </a:r>
            <a:r>
              <a:rPr b="1"/>
              <a:t> 有什么区别？</a:t>
            </a:r>
          </a:p>
          <a:p>
            <a:pPr lvl="0" indent="0" marL="0">
              <a:buNone/>
            </a:pPr>
            <a:r>
              <a:rPr/>
              <a:t>A：</a:t>
            </a:r>
            <a:r>
              <a:rPr>
                <a:latin typeface="Courier"/>
              </a:rPr>
              <a:t>|&gt;</a:t>
            </a:r>
            <a:r>
              <a:rPr/>
              <a:t> 是 R 4.1+ 内置的管道操作符，</a:t>
            </a:r>
            <a:r>
              <a:rPr>
                <a:latin typeface="Courier"/>
              </a:rPr>
              <a:t>%&gt;%</a:t>
            </a:r>
            <a:r>
              <a:rPr/>
              <a:t> 来自 magrittr 包。功能基本相同，推荐使用 </a:t>
            </a:r>
            <a:r>
              <a:rPr>
                <a:latin typeface="Courier"/>
              </a:rPr>
              <a:t>|&gt;</a:t>
            </a:r>
            <a:r>
              <a:rPr/>
              <a:t> 因为无需额外加载包。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Q2：</a:t>
            </a:r>
            <a:r>
              <a:rPr b="1">
                <a:latin typeface="Courier"/>
              </a:rPr>
              <a:t>pivot_longer()</a:t>
            </a:r>
            <a:r>
              <a:rPr b="1"/>
              <a:t> 的 </a:t>
            </a:r>
            <a:r>
              <a:rPr b="1">
                <a:latin typeface="Courier"/>
              </a:rPr>
              <a:t>cols</a:t>
            </a:r>
            <a:r>
              <a:rPr b="1"/>
              <a:t> 参数怎么指定多列？</a:t>
            </a:r>
          </a:p>
          <a:p>
            <a:pPr lvl="0" indent="0" marL="0">
              <a:buNone/>
            </a:pPr>
            <a:r>
              <a:rPr/>
              <a:t>A：可用多种方式：</a:t>
            </a:r>
            <a:r>
              <a:rPr>
                <a:latin typeface="Courier"/>
              </a:rPr>
              <a:t>cols = c(col1, col2)</a:t>
            </a:r>
            <a:r>
              <a:rPr/>
              <a:t>、</a:t>
            </a:r>
            <a:r>
              <a:rPr>
                <a:latin typeface="Courier"/>
              </a:rPr>
              <a:t>cols = starts_with("score")</a:t>
            </a:r>
            <a:r>
              <a:rPr/>
              <a:t>、</a:t>
            </a:r>
            <a:r>
              <a:rPr>
                <a:latin typeface="Courier"/>
              </a:rPr>
              <a:t>cols = -id</a:t>
            </a:r>
            <a:r>
              <a:rPr/>
              <a:t>（排除 id 列以外的所有列）。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tidyverse 提供了一套一致的数据处理语法，管道操作符 </a:t>
            </a:r>
            <a:r>
              <a:rPr>
                <a:latin typeface="Courier"/>
              </a:rPr>
              <a:t>|&gt;</a:t>
            </a:r>
            <a:r>
              <a:rPr/>
              <a:t> 是串联各步骤的核心</a:t>
            </a:r>
          </a:p>
          <a:p>
            <a:pPr lvl="0" indent="-342900" marL="342900">
              <a:buAutoNum type="arabicPeriod"/>
            </a:pPr>
            <a:r>
              <a:rPr/>
              <a:t>dplyr 的五大动词覆盖了绝大多数数据操作需求——筛选、选择、变换、排序、汇总</a:t>
            </a:r>
          </a:p>
          <a:p>
            <a:pPr lvl="0" indent="-342900" marL="342900">
              <a:buAutoNum type="arabicPeriod"/>
            </a:pPr>
            <a:r>
              <a:rPr/>
              <a:t>数据重塑（长宽转换）与数据连接（join）是处理真实多表数据的必备技能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：使用管道操作符对一个数据集完成”筛选 → 分组 → 汇总 → 排序”的完整流程</a:t>
            </a:r>
          </a:p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：练习 </a:t>
            </a:r>
            <a:r>
              <a:rPr>
                <a:latin typeface="Courier"/>
              </a:rPr>
              <a:t>pivot_longer()</a:t>
            </a:r>
            <a:r>
              <a:rPr/>
              <a:t> 和 </a:t>
            </a:r>
            <a:r>
              <a:rPr>
                <a:latin typeface="Courier"/>
              </a:rPr>
              <a:t>pivot_wider()</a:t>
            </a:r>
            <a:r>
              <a:rPr/>
              <a:t>，将一个宽格式成绩表转为长格式</a:t>
            </a:r>
          </a:p>
          <a:p>
            <a:pPr lvl="0" indent="-342900" marL="342900">
              <a:buAutoNum type="arabicPeriod"/>
            </a:pPr>
            <a:r>
              <a:rPr b="1"/>
              <a:t>选做</a:t>
            </a:r>
            <a:r>
              <a:rPr/>
              <a:t>：使用 </a:t>
            </a:r>
            <a:r>
              <a:rPr>
                <a:latin typeface="Courier"/>
              </a:rPr>
              <a:t>left_join()</a:t>
            </a:r>
            <a:r>
              <a:rPr/>
              <a:t> 合并两个数据表，并处理合并后的缺失值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延伸阅读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R for Data Science (2e) - Data Transform</a:t>
            </a:r>
          </a:p>
          <a:p>
            <a:pPr lvl="0"/>
            <a:r>
              <a:rPr>
                <a:hlinkClick r:id="rId3"/>
              </a:rPr>
              <a:t>tidyr pivoting vignette</a:t>
            </a:r>
          </a:p>
          <a:p>
            <a:pPr lvl="0"/>
            <a:r>
              <a:rPr/>
              <a:t>Wickham, H. (2014). Tidy Data. </a:t>
            </a:r>
            <a:r>
              <a:rPr i="1"/>
              <a:t>Journal of Statistical Software</a:t>
            </a:r>
            <a:r>
              <a:rPr/>
              <a:t>, 59(10).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数据处理进阶</dc:title>
  <dc:creator>Huaqing Liu</dc:creator>
  <cp:keywords/>
  <dcterms:created xsi:type="dcterms:W3CDTF">2026-03-31T08:55:07Z</dcterms:created>
  <dcterms:modified xsi:type="dcterms:W3CDTF">2026-03-31T08:55:07Z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