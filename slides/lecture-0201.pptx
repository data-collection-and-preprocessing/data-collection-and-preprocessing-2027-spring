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776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fld id="{241EB5C9-1307-BA42-ABA2-0BC069CD8E7F}" type="datetimeFigureOut">
              <a:rPr lang="en-US" smtClean="0"/>
              <a:pPr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数据采集方法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Huaqing Liu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0201 数据采集方法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教材章节：0201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本章学习目标</a:t>
            </a:r>
          </a:p>
          <a:p>
            <a:pPr lvl="0"/>
            <a:r>
              <a:rPr/>
              <a:t>理解 四大数据来源的本质区别与适用场景</a:t>
            </a:r>
          </a:p>
          <a:p>
            <a:pPr lvl="0"/>
            <a:r>
              <a:rPr/>
              <a:t>掌握 观测、实验、模型、公共数据的核心特征与比较框架</a:t>
            </a:r>
          </a:p>
          <a:p>
            <a:pPr lvl="0"/>
            <a:r>
              <a:rPr/>
              <a:t>了解 通用数据采集工作流的五个关键步骤</a:t>
            </a:r>
          </a:p>
          <a:p>
            <a:pPr lvl="0"/>
            <a:r>
              <a:rPr/>
              <a:t>能够应用 根据研究问题选择最合适的数据来源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内容概览</a:t>
            </a:r>
          </a:p>
          <a:p>
            <a:pPr lvl="0" indent="-342900" marL="342900">
              <a:buAutoNum type="arabicPeriod"/>
            </a:pPr>
            <a:r>
              <a:rPr b="1"/>
              <a:t>第一节</a:t>
            </a:r>
            <a:r>
              <a:rPr/>
              <a:t>：四大数据来源概述</a:t>
            </a:r>
          </a:p>
          <a:p>
            <a:pPr lvl="0" indent="-342900" marL="342900">
              <a:buAutoNum type="arabicPeriod"/>
            </a:pPr>
            <a:r>
              <a:rPr b="1"/>
              <a:t>第二节</a:t>
            </a:r>
            <a:r>
              <a:rPr/>
              <a:t>：四大数据来源的对比分析</a:t>
            </a:r>
          </a:p>
          <a:p>
            <a:pPr lvl="0" indent="-342900" marL="342900">
              <a:buAutoNum type="arabicPeriod"/>
            </a:pPr>
            <a:r>
              <a:rPr b="1"/>
              <a:t>第三节</a:t>
            </a:r>
            <a:r>
              <a:rPr/>
              <a:t>：通用数据采集工作流</a:t>
            </a:r>
          </a:p>
          <a:p>
            <a:pPr lvl="0" indent="-342900" marL="342900">
              <a:buAutoNum type="arabicPeriod"/>
            </a:pPr>
            <a:r>
              <a:rPr b="1"/>
              <a:t>第四节</a:t>
            </a:r>
            <a:r>
              <a:rPr/>
              <a:t>：如何根据研究问题选择数据来源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核心概念</a:t>
            </a:r>
          </a:p>
          <a:p>
            <a:pPr lvl="0"/>
            <a:r>
              <a:rPr b="1"/>
              <a:t>概念一</a:t>
            </a:r>
            <a:r>
              <a:rPr/>
              <a:t>：观测数据（Observational Data）：在自然条件下通过直接观察获取的数据，研究者不施加任何干预</a:t>
            </a:r>
          </a:p>
          <a:p>
            <a:pPr lvl="0"/>
            <a:r>
              <a:rPr b="1"/>
              <a:t>概念二</a:t>
            </a:r>
            <a:r>
              <a:rPr/>
              <a:t>：实验数据（Experimental Data）：在受控条件下通过操纵自变量并测量因变量获取的数据，可建立因果关系</a:t>
            </a:r>
          </a:p>
          <a:p>
            <a:pPr lvl="0"/>
            <a:r>
              <a:rPr b="1"/>
              <a:t>概念三</a:t>
            </a:r>
            <a:r>
              <a:rPr/>
              <a:t>：模型数据（Model-generated Data）：通过数学模型或计算机模拟生成的数据，可探索难以直接观测的过程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四大数据来源并非互相排斥，许多研究结合多种来源以增强结论的可靠性。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四大数据来源对比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特征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观测数据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实验数据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模型数据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公共数据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干预程度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无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强（操纵变量）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无（虚拟实验）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无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因果推断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弱（相关性）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强（因果性）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中（依赖假设）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弱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优势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生态真实性高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可验证因果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可模拟极端情景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成本低、覆盖广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劣势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混杂变量多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生态现实性受限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依赖参数准确性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质量不可控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通用数据采集工作流</a:t>
            </a:r>
          </a:p>
          <a:p>
            <a:pPr lvl="0" indent="0" marL="0">
              <a:buNone/>
            </a:pPr>
            <a:r>
              <a:rPr/>
              <a:t>数据采集通常包含以下五个关键步骤：</a:t>
            </a:r>
          </a:p>
          <a:p>
            <a:pPr lvl="0" indent="-342900" marL="342900">
              <a:buAutoNum type="arabicPeriod"/>
            </a:pPr>
            <a:r>
              <a:rPr b="1"/>
              <a:t>明确研究问题</a:t>
            </a:r>
            <a:r>
              <a:rPr/>
              <a:t>：确定需要什么数据、精度要求、时空范围</a:t>
            </a:r>
          </a:p>
          <a:p>
            <a:pPr lvl="0" indent="-342900" marL="342900">
              <a:buAutoNum type="arabicPeriod"/>
            </a:pPr>
            <a:r>
              <a:rPr b="1"/>
              <a:t>设计采集方案</a:t>
            </a:r>
            <a:r>
              <a:rPr/>
              <a:t>：选择数据来源、采样策略、样本量估算</a:t>
            </a:r>
          </a:p>
          <a:p>
            <a:pPr lvl="0" indent="-342900" marL="342900">
              <a:buAutoNum type="arabicPeriod"/>
            </a:pPr>
            <a:r>
              <a:rPr b="1"/>
              <a:t>准备采集工具</a:t>
            </a:r>
            <a:r>
              <a:rPr/>
              <a:t>：仪器校准、记录表设计、培训人员</a:t>
            </a:r>
          </a:p>
          <a:p>
            <a:pPr lvl="0" indent="-342900" marL="342900">
              <a:buAutoNum type="arabicPeriod"/>
            </a:pPr>
            <a:r>
              <a:rPr b="1"/>
              <a:t>执行数据采集</a:t>
            </a:r>
            <a:r>
              <a:rPr/>
              <a:t>：按标准化流程采集，同步记录元数据</a:t>
            </a:r>
          </a:p>
          <a:p>
            <a:pPr lvl="0" indent="-342900" marL="342900">
              <a:buAutoNum type="arabicPeriod"/>
            </a:pPr>
            <a:r>
              <a:rPr b="1"/>
              <a:t>质量控制检查</a:t>
            </a:r>
            <a:r>
              <a:rPr/>
              <a:t>：现场校验、数据完整性检查、异常标记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常用工具与方法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类别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工具/方法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用途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观测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样方法 / 样线法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野外生物多样性调查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实验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随机区组设计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控制空间异质性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模型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 / Python 模拟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过程模型与统计模型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公共数据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GBIF / WorldClim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生物多样性与气候数据获取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代码示例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#| eval: false</a:t>
            </a:r>
            <a:br/>
            <a:r>
              <a:rPr>
                <a:solidFill>
                  <a:srgbClr val="06287E"/>
                </a:solidFill>
                <a:latin typeface="Courier"/>
              </a:rPr>
              <a:t>library</a:t>
            </a:r>
            <a:r>
              <a:rPr>
                <a:latin typeface="Courier"/>
              </a:rPr>
              <a:t>(tibble)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创建四种数据来源的示例数据</a:t>
            </a:r>
            <a:br/>
            <a:r>
              <a:rPr>
                <a:latin typeface="Courier"/>
              </a:rPr>
              <a:t>observation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tibble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site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"A1"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"A2"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"A3"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species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"Pinus massoniana"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"Quercus acutissima"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"Cunninghamia lanceolata"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dbh_cm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15.2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22.7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18.4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source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"observation"</a:t>
            </a:r>
            <a:br/>
            <a:r>
              <a:rPr>
                <a:latin typeface="Courier"/>
              </a:rPr>
              <a:t>)</a:t>
            </a:r>
            <a:br/>
            <a:br/>
            <a:r>
              <a:rPr>
                <a:latin typeface="Courier"/>
              </a:rPr>
              <a:t>experiment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tibble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plot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"C1"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"T1"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"T2"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treatment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"control"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"nitrogen"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"phosphorus"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biomass_g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120.5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185.3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156.8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source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"experiment"</a:t>
            </a:r>
            <a:br/>
            <a:r>
              <a:rPr>
                <a:latin typeface="Courier"/>
              </a:rPr>
              <a:t>)</a:t>
            </a:r>
            <a:br/>
            <a:br/>
            <a:r>
              <a:rPr>
                <a:latin typeface="Courier"/>
              </a:rPr>
              <a:t>model_output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tibble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year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2020</a:t>
            </a:r>
            <a:r>
              <a:rPr>
                <a:solidFill>
                  <a:srgbClr val="4070A0"/>
                </a:solidFill>
                <a:latin typeface="Courier"/>
              </a:rPr>
              <a:t>:</a:t>
            </a:r>
            <a:r>
              <a:rPr>
                <a:solidFill>
                  <a:srgbClr val="40A070"/>
                </a:solidFill>
                <a:latin typeface="Courier"/>
              </a:rPr>
              <a:t>2024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npp_gC_m2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450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462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478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455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490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source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"model"</a:t>
            </a:r>
            <a:br/>
            <a:r>
              <a:rPr>
                <a:latin typeface="Courier"/>
              </a:rPr>
              <a:t>)</a:t>
            </a:r>
            <a:br/>
            <a:br/>
            <a:r>
              <a:rPr>
                <a:latin typeface="Courier"/>
              </a:rPr>
              <a:t>public_data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tibble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species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"Panthera tigris"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"Ailuropoda melanoleuca"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gbif_records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12580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8920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source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"public"</a:t>
            </a:r>
            <a:br/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实践要点</a:t>
            </a:r>
          </a:p>
          <a:p>
            <a:pPr lvl="0"/>
            <a:r>
              <a:rPr b="1"/>
              <a:t>要点一</a:t>
            </a:r>
            <a:r>
              <a:rPr/>
              <a:t>：先明确研究问题的类型（描述性、因果性、预测性），再选择数据来源</a:t>
            </a:r>
          </a:p>
          <a:p>
            <a:pPr lvl="0"/>
            <a:r>
              <a:rPr b="1"/>
              <a:t>要点二</a:t>
            </a:r>
            <a:r>
              <a:rPr/>
              <a:t>：多源数据整合时需注意时空尺度的匹配与统一</a:t>
            </a:r>
          </a:p>
          <a:p>
            <a:pPr lvl="0"/>
            <a:r>
              <a:rPr b="1"/>
              <a:t>要点三</a:t>
            </a:r>
            <a:r>
              <a:rPr/>
              <a:t>：无论哪种数据来源，元数据记录都是可重复性的基础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在研究设计阶段花足够时间选择数据来源，比后期弥补数据缺陷更高效。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常见问题与解答</a:t>
            </a:r>
          </a:p>
          <a:p>
            <a:pPr lvl="0" indent="0" marL="0">
              <a:buNone/>
            </a:pPr>
            <a:r>
              <a:rPr b="1"/>
              <a:t>Q1</a:t>
            </a:r>
            <a:r>
              <a:rPr/>
              <a:t>：如果研究问题需要因果推断，但无法开展实验怎么办？</a:t>
            </a:r>
          </a:p>
          <a:p>
            <a:pPr lvl="0" indent="0" marL="0">
              <a:buNone/>
            </a:pPr>
            <a:r>
              <a:rPr b="1"/>
              <a:t>A1</a:t>
            </a:r>
            <a:r>
              <a:rPr/>
              <a:t>：可利用自然实验（natural experiment）或准实验设计（quasi-experimental design），结合观测数据和统计方法（如倾向评分匹配、工具变量法）进行近似因果推断。</a:t>
            </a:r>
          </a:p>
          <a:p>
            <a:pPr lvl="0" indent="0" marL="0">
              <a:buNone/>
            </a:pPr>
            <a:r>
              <a:rPr b="1"/>
              <a:t>Q2</a:t>
            </a:r>
            <a:r>
              <a:rPr/>
              <a:t>：公共数据可以直接用于发表论文吗？</a:t>
            </a:r>
          </a:p>
          <a:p>
            <a:pPr lvl="0" indent="0" marL="0">
              <a:buNone/>
            </a:pPr>
            <a:r>
              <a:rPr b="1"/>
              <a:t>A2</a:t>
            </a:r>
            <a:r>
              <a:rPr/>
              <a:t>：可以，但必须检查数据使用协议（如 CC-BY 许可）、引用原始数据来源，并对数据质量进行独立验证。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本章小结</a:t>
            </a:r>
          </a:p>
          <a:p>
            <a:pPr lvl="0" indent="-342900" marL="342900">
              <a:buAutoNum type="arabicPeriod"/>
            </a:pPr>
            <a:r>
              <a:rPr/>
              <a:t>四大数据来源（观测、实验、模型、公共数据）各有优劣，选择取决于研究问题</a:t>
            </a:r>
          </a:p>
          <a:p>
            <a:pPr lvl="0" indent="-342900" marL="342900">
              <a:buAutoNum type="arabicPeriod"/>
            </a:pPr>
            <a:r>
              <a:rPr/>
              <a:t>通用数据采集工作流包含五步：明确问题、设计方案、准备工具、执行采集、质量控制</a:t>
            </a:r>
          </a:p>
          <a:p>
            <a:pPr lvl="0" indent="-342900" marL="342900">
              <a:buAutoNum type="arabicPeriod"/>
            </a:pPr>
            <a:r>
              <a:rPr/>
              <a:t>多源数据整合是现代生态学研究的趋势，需注意尺度匹配与元数据记录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课后任务</a:t>
            </a:r>
          </a:p>
          <a:p>
            <a:pPr lvl="0"/>
            <a:r>
              <a:rPr/>
              <a:t>针对你的研究课题，分析需要哪些数据来源并说明理由</a:t>
            </a:r>
          </a:p>
          <a:p>
            <a:pPr lvl="0"/>
            <a:r>
              <a:rPr/>
              <a:t>设计一个包含至少两种数据来源的研究框架草图</a:t>
            </a:r>
          </a:p>
          <a:p>
            <a:pPr lvl="0"/>
            <a:r>
              <a:rPr b="1"/>
              <a:t>选做</a:t>
            </a:r>
            <a:r>
              <a:rPr/>
              <a:t>：用 R 创建 tibble 记录你的研究数据结构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延伸阅读</a:t>
            </a:r>
          </a:p>
          <a:p>
            <a:pPr lvl="0"/>
            <a:r>
              <a:rPr/>
              <a:t>Gotelli &amp; Ellison 2004, </a:t>
            </a:r>
            <a:r>
              <a:rPr i="1"/>
              <a:t>A Primer of Ecological Statistics</a:t>
            </a:r>
            <a:r>
              <a:rPr/>
              <a:t> - 生态学数据采集与统计基础</a:t>
            </a:r>
          </a:p>
          <a:p>
            <a:pPr lvl="0"/>
            <a:r>
              <a:rPr/>
              <a:t>Hampton et al. 2013, </a:t>
            </a:r>
            <a:r>
              <a:rPr i="1"/>
              <a:t>Ecology Letters</a:t>
            </a:r>
            <a:r>
              <a:rPr/>
              <a:t> - 大数据时代的生态学数据管理</a:t>
            </a:r>
          </a:p>
          <a:p>
            <a:pPr lvl="0"/>
            <a:r>
              <a:rPr/>
              <a:t>Michener 2015, </a:t>
            </a:r>
            <a:r>
              <a:rPr i="1"/>
              <a:t>PLOS Biology</a:t>
            </a:r>
            <a:r>
              <a:rPr/>
              <a:t> - 生态学研究中的元数据标准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46</Words>
  <Application>Microsoft Macintosh PowerPoint</Application>
  <PresentationFormat>全屏显示(16:9)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Microsoft YaHei</vt:lpstr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数据采集方法</dc:title>
  <dc:creator>Huaqing Liu</dc:creator>
  <cp:keywords/>
  <dcterms:created xsi:type="dcterms:W3CDTF">2026-03-31T08:55:12Z</dcterms:created>
  <dcterms:modified xsi:type="dcterms:W3CDTF">2026-03-31T08:55:12Z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ibliography">
    <vt:lpwstr/>
  </property>
  <property fmtid="{D5CDD505-2E9C-101B-9397-08002B2CF9AE}" pid="5" name="by-author">
    <vt:lpwstr/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toc-title">
    <vt:lpwstr>Table of contents</vt:lpwstr>
  </property>
</Properties>
</file>