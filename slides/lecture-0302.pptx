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776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1" Type="http://schemas.openxmlformats.org/officeDocument/2006/relationships/viewProps" Target="viewProps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3" Type="http://schemas.openxmlformats.org/officeDocument/2006/relationships/tableStyles" Target="tableStyles.xml" /><Relationship Id="rId2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charset="-122" panose="020B0503020204020204" pitchFamily="34" typeface="Microsoft YaHei"/>
                <a:ea charset="-122" panose="020B0503020204020204" pitchFamily="34" typeface="Microsoft YaHei"/>
              </a:defRPr>
            </a:lvl1pPr>
          </a:lstStyle>
          <a:p>
            <a:fld id="{241EB5C9-1307-BA42-ABA2-0BC069CD8E7F}" type="datetimeFigureOut">
              <a:rPr lang="en-US" smtClean="0"/>
              <a:pPr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charset="-122" panose="020B0503020204020204" pitchFamily="34" typeface="Microsoft YaHei"/>
                <a:ea charset="-122" panose="020B0503020204020204" pitchFamily="34" typeface="Microsoft YaHei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charset="-122" panose="020B0503020204020204" pitchFamily="34" typeface="Microsoft YaHei"/>
                <a:ea charset="-122" panose="020B0503020204020204" pitchFamily="34" typeface="Microsoft YaHei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数据转换与特征工程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Huaqing Liu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0302 数据转换与特征工程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教材章节：0302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本章学习目标</a:t>
            </a:r>
          </a:p>
          <a:p>
            <a:pPr lvl="0"/>
            <a:r>
              <a:rPr/>
              <a:t>理解 Z-score 标准化与 Min-Max 归一化的原理及适用场景</a:t>
            </a:r>
          </a:p>
          <a:p>
            <a:pPr lvl="0"/>
            <a:r>
              <a:rPr/>
              <a:t>掌握 对数变换处理右偏数据的方法与正态性检验</a:t>
            </a:r>
          </a:p>
          <a:p>
            <a:pPr lvl="0"/>
            <a:r>
              <a:rPr/>
              <a:t>了解 分类变量编码（因子排序、哑变量、角度编码）的策略</a:t>
            </a:r>
          </a:p>
          <a:p>
            <a:pPr lvl="0"/>
            <a:r>
              <a:rPr/>
              <a:t>能够应用 长宽格式转换与特征构造提升数据分析能力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内容概览</a:t>
            </a:r>
          </a:p>
          <a:p>
            <a:pPr lvl="0" indent="-342900" marL="342900">
              <a:buAutoNum type="arabicPeriod"/>
            </a:pPr>
            <a:r>
              <a:rPr b="1"/>
              <a:t>第一节</a:t>
            </a:r>
            <a:r>
              <a:rPr/>
              <a:t>：数值标准化与归一化</a:t>
            </a:r>
          </a:p>
          <a:p>
            <a:pPr lvl="0" indent="-342900" marL="342900">
              <a:buAutoNum type="arabicPeriod"/>
            </a:pPr>
            <a:r>
              <a:rPr b="1"/>
              <a:t>第二节</a:t>
            </a:r>
            <a:r>
              <a:rPr/>
              <a:t>：数据分布变换</a:t>
            </a:r>
          </a:p>
          <a:p>
            <a:pPr lvl="0" indent="-342900" marL="342900">
              <a:buAutoNum type="arabicPeriod"/>
            </a:pPr>
            <a:r>
              <a:rPr b="1"/>
              <a:t>第三节</a:t>
            </a:r>
            <a:r>
              <a:rPr/>
              <a:t>：分类变量编码</a:t>
            </a:r>
          </a:p>
          <a:p>
            <a:pPr lvl="0" indent="-342900" marL="342900">
              <a:buAutoNum type="arabicPeriod"/>
            </a:pPr>
            <a:r>
              <a:rPr b="1"/>
              <a:t>第四节</a:t>
            </a:r>
            <a:r>
              <a:rPr/>
              <a:t>：长宽格式转换</a:t>
            </a:r>
          </a:p>
          <a:p>
            <a:pPr lvl="0" indent="-342900" marL="342900">
              <a:buAutoNum type="arabicPeriod"/>
            </a:pPr>
            <a:r>
              <a:rPr b="1"/>
              <a:t>第五节</a:t>
            </a:r>
            <a:r>
              <a:rPr/>
              <a:t>：特征构造与领域知识驱动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核心概念</a:t>
            </a:r>
          </a:p>
          <a:p>
            <a:pPr lvl="0" indent="0" marL="1270000">
              <a:buNone/>
            </a:pPr>
            <a:r>
              <a:rPr sz="2000" b="1"/>
              <a:t>概念一：标准化与归一化</a:t>
            </a:r>
          </a:p>
          <a:p>
            <a:pPr lvl="0" indent="0" marL="1270000">
              <a:buNone/>
            </a:pPr>
            <a:r>
              <a:rPr sz="2000"/>
              <a:t>标准化（Z-score）将数据转换为均值 0、标准差 1 的分布，适合对量纲敏感的算法；归一化（Min-Max）将数据缩放到 [0, 1] 区间，适合需要固定范围的场景。</a:t>
            </a:r>
          </a:p>
          <a:p>
            <a:pPr lvl="0" indent="0" marL="1270000">
              <a:buNone/>
            </a:pPr>
            <a:r>
              <a:rPr sz="2000" b="1"/>
              <a:t>概念二：对数变换</a:t>
            </a:r>
          </a:p>
          <a:p>
            <a:pPr lvl="0" indent="0" marL="1270000">
              <a:buNone/>
            </a:pPr>
            <a:r>
              <a:rPr sz="2000"/>
              <a:t>对右偏分布数据取对数可使其趋近正态分布，是生态学和土壤学中最常用的变换手段。变换前后均需用 Shapiro-Wilk 检验验证。</a:t>
            </a:r>
          </a:p>
          <a:p>
            <a:pPr lvl="0" indent="0" marL="1270000">
              <a:buNone/>
            </a:pPr>
            <a:r>
              <a:rPr sz="2000" b="1"/>
              <a:t>概念三：特征工程</a:t>
            </a:r>
          </a:p>
          <a:p>
            <a:pPr lvl="0" indent="0" marL="1270000">
              <a:buNone/>
            </a:pPr>
            <a:r>
              <a:rPr sz="2000"/>
              <a:t>基于领域知识从原始变量构造新特征（如 C/N 比、土壤质地分类、坡度等级），通常比盲目组合变量更有效。领域知识 &gt; 盲目特征组合。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常用工具与方法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类别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工具/方法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用途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标准化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scale()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Z-score 标准化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归一化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自定义函数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Min-Max 归一化到 [0, 1]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变换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log()</a:t>
                      </a:r>
                      <a:r>
                        <a:rPr/>
                        <a:t> / </a:t>
                      </a:r>
                      <a:r>
                        <a:rPr>
                          <a:latin typeface="Courier"/>
                        </a:rPr>
                        <a:t>log1p()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对数变换处理右偏数据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检验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shapiro.test()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Shapiro-Wilk 正态性检验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编码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model.matrix()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生成哑变量矩阵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格式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>
                          <a:latin typeface="Courier"/>
                        </a:rPr>
                        <a:t>pivot_longer()</a:t>
                      </a:r>
                      <a:r>
                        <a:rPr/>
                        <a:t> / </a:t>
                      </a:r>
                      <a:r>
                        <a:rPr>
                          <a:latin typeface="Courier"/>
                        </a:rPr>
                        <a:t>pivot_wider()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长宽格式互转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代码示例：Z-score 标准化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#| eval: false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Z-score 标准化：z = (x - mean) / sd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适用场景：PCA、聚类、距离计算等量纲敏感分析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方法一：使用 scale() 函数</a:t>
            </a:r>
            <a:br/>
            <a:r>
              <a:rPr>
                <a:latin typeface="Courier"/>
              </a:rPr>
              <a:t>soil_scaled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soil </a:t>
            </a:r>
            <a:r>
              <a:rPr>
                <a:solidFill>
                  <a:srgbClr val="4070A0"/>
                </a:solidFill>
                <a:latin typeface="Courier"/>
              </a:rPr>
              <a:t>|&gt;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mutate</a:t>
            </a:r>
            <a:r>
              <a:rPr>
                <a:latin typeface="Courier"/>
              </a:rPr>
              <a:t>(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7D9029"/>
                </a:solidFill>
                <a:latin typeface="Courier"/>
              </a:rPr>
              <a:t>SOC_z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scale</a:t>
            </a:r>
            <a:r>
              <a:rPr>
                <a:latin typeface="Courier"/>
              </a:rPr>
              <a:t>(SOC)[,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7D9029"/>
                </a:solidFill>
                <a:latin typeface="Courier"/>
              </a:rPr>
              <a:t>TN_z 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scale</a:t>
            </a:r>
            <a:r>
              <a:rPr>
                <a:latin typeface="Courier"/>
              </a:rPr>
              <a:t>(TN)[,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7D9029"/>
                </a:solidFill>
                <a:latin typeface="Courier"/>
              </a:rPr>
              <a:t>pH_z 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scale</a:t>
            </a:r>
            <a:r>
              <a:rPr>
                <a:latin typeface="Courier"/>
              </a:rPr>
              <a:t>(pH)[,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</a:t>
            </a:r>
            <a:br/>
            <a:r>
              <a:rPr>
                <a:latin typeface="Courier"/>
              </a:rPr>
              <a:t>  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验证：均值接近 0，标准差接近 1</a:t>
            </a:r>
            <a:br/>
            <a:r>
              <a:rPr>
                <a:latin typeface="Courier"/>
              </a:rPr>
              <a:t>soil_scaled </a:t>
            </a:r>
            <a:r>
              <a:rPr>
                <a:solidFill>
                  <a:srgbClr val="4070A0"/>
                </a:solidFill>
                <a:latin typeface="Courier"/>
              </a:rPr>
              <a:t>|&gt;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summarise</a:t>
            </a:r>
            <a:r>
              <a:rPr>
                <a:latin typeface="Courier"/>
              </a:rPr>
              <a:t>(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across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ends_with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"_z"</a:t>
            </a:r>
            <a:r>
              <a:rPr>
                <a:latin typeface="Courier"/>
              </a:rPr>
              <a:t>), </a:t>
            </a:r>
            <a:r>
              <a:rPr>
                <a:solidFill>
                  <a:srgbClr val="06287E"/>
                </a:solidFill>
                <a:latin typeface="Courier"/>
              </a:rPr>
              <a:t>list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mean =</a:t>
            </a:r>
            <a:r>
              <a:rPr>
                <a:latin typeface="Courier"/>
              </a:rPr>
              <a:t> mean, </a:t>
            </a:r>
            <a:r>
              <a:rPr>
                <a:solidFill>
                  <a:srgbClr val="7D9029"/>
                </a:solidFill>
                <a:latin typeface="Courier"/>
              </a:rPr>
              <a:t>sd =</a:t>
            </a:r>
            <a:r>
              <a:rPr>
                <a:latin typeface="Courier"/>
              </a:rPr>
              <a:t> sd), </a:t>
            </a:r>
            <a:r>
              <a:rPr>
                <a:solidFill>
                  <a:srgbClr val="7D9029"/>
                </a:solidFill>
                <a:latin typeface="Courier"/>
              </a:rPr>
              <a:t>na.rm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代码示例：Min-Max 归一化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#| eval: false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Min-Max 归一化：x_norm = (x - min) / (max - min)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适用场景：神经网络输入、需要 [0, 1] 范围的指标构建</a:t>
            </a:r>
            <a:br/>
            <a:br/>
            <a:r>
              <a:rPr>
                <a:latin typeface="Courier"/>
              </a:rPr>
              <a:t>min_max_norm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function</a:t>
            </a:r>
            <a:r>
              <a:rPr>
                <a:latin typeface="Courier"/>
              </a:rPr>
              <a:t>(x) {</a:t>
            </a:r>
            <a:br/>
            <a:r>
              <a:rPr>
                <a:latin typeface="Courier"/>
              </a:rPr>
              <a:t>  (x </a:t>
            </a:r>
            <a:r>
              <a:rPr>
                <a:solidFill>
                  <a:srgbClr val="4070A0"/>
                </a:solidFill>
                <a:latin typeface="Courier"/>
              </a:rPr>
              <a:t>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min</a:t>
            </a:r>
            <a:r>
              <a:rPr>
                <a:latin typeface="Courier"/>
              </a:rPr>
              <a:t>(x, </a:t>
            </a:r>
            <a:r>
              <a:rPr>
                <a:solidFill>
                  <a:srgbClr val="7D9029"/>
                </a:solidFill>
                <a:latin typeface="Courier"/>
              </a:rPr>
              <a:t>na.rm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)) </a:t>
            </a:r>
            <a:r>
              <a:rPr>
                <a:solidFill>
                  <a:srgbClr val="4070A0"/>
                </a:solidFill>
                <a:latin typeface="Courier"/>
              </a:rPr>
              <a:t>/</a:t>
            </a:r>
            <a:r>
              <a:rPr>
                <a:latin typeface="Courier"/>
              </a:rPr>
              <a:t> (</a:t>
            </a:r>
            <a:r>
              <a:rPr>
                <a:solidFill>
                  <a:srgbClr val="06287E"/>
                </a:solidFill>
                <a:latin typeface="Courier"/>
              </a:rPr>
              <a:t>max</a:t>
            </a:r>
            <a:r>
              <a:rPr>
                <a:latin typeface="Courier"/>
              </a:rPr>
              <a:t>(x, </a:t>
            </a:r>
            <a:r>
              <a:rPr>
                <a:solidFill>
                  <a:srgbClr val="7D9029"/>
                </a:solidFill>
                <a:latin typeface="Courier"/>
              </a:rPr>
              <a:t>na.rm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4070A0"/>
                </a:solidFill>
                <a:latin typeface="Courier"/>
              </a:rPr>
              <a:t>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min</a:t>
            </a:r>
            <a:r>
              <a:rPr>
                <a:latin typeface="Courier"/>
              </a:rPr>
              <a:t>(x, </a:t>
            </a:r>
            <a:r>
              <a:rPr>
                <a:solidFill>
                  <a:srgbClr val="7D9029"/>
                </a:solidFill>
                <a:latin typeface="Courier"/>
              </a:rPr>
              <a:t>na.rm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))</a:t>
            </a:r>
            <a:br/>
            <a:r>
              <a:rPr>
                <a:latin typeface="Courier"/>
              </a:rPr>
              <a:t>}</a:t>
            </a:r>
            <a:br/>
            <a:br/>
            <a:r>
              <a:rPr>
                <a:latin typeface="Courier"/>
              </a:rPr>
              <a:t>soil_normed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soil </a:t>
            </a:r>
            <a:r>
              <a:rPr>
                <a:solidFill>
                  <a:srgbClr val="4070A0"/>
                </a:solidFill>
                <a:latin typeface="Courier"/>
              </a:rPr>
              <a:t>|&gt;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mutate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across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c</a:t>
            </a:r>
            <a:r>
              <a:rPr>
                <a:latin typeface="Courier"/>
              </a:rPr>
              <a:t>(SOC, TN, pH), min_max_norm, </a:t>
            </a:r>
            <a:r>
              <a:rPr>
                <a:solidFill>
                  <a:srgbClr val="7D9029"/>
                </a:solidFill>
                <a:latin typeface="Courier"/>
              </a:rPr>
              <a:t>.names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"{.col}_norm"</a:t>
            </a:r>
            <a:r>
              <a:rPr>
                <a:latin typeface="Courier"/>
              </a:rPr>
              <a:t>))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何时选择哪种方法？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Z-score：变量需要可比较、存在极端值影响较小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Min-Max：需要固定范围、对极端值敏感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代码示例：对数变换与正态性检验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#| eval: false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右偏数据的对数变换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变换前检验</a:t>
            </a:r>
            <a:br/>
            <a:r>
              <a:rPr>
                <a:solidFill>
                  <a:srgbClr val="06287E"/>
                </a:solidFill>
                <a:latin typeface="Courier"/>
              </a:rPr>
              <a:t>shapiro.test</a:t>
            </a:r>
            <a:r>
              <a:rPr>
                <a:latin typeface="Courier"/>
              </a:rPr>
              <a:t>(soil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SOC)  </a:t>
            </a:r>
            <a:r>
              <a:rPr i="1">
                <a:solidFill>
                  <a:srgbClr val="60A0B0"/>
                </a:solidFill>
                <a:latin typeface="Courier"/>
              </a:rPr>
              <a:t># p &lt; 0.05 表示非正态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对数变换（含零值时用 log1p）</a:t>
            </a:r>
            <a:br/>
            <a:r>
              <a:rPr>
                <a:latin typeface="Courier"/>
              </a:rPr>
              <a:t>soil_transformed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soil </a:t>
            </a:r>
            <a:r>
              <a:rPr>
                <a:solidFill>
                  <a:srgbClr val="4070A0"/>
                </a:solidFill>
                <a:latin typeface="Courier"/>
              </a:rPr>
              <a:t>|&gt;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mutate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SOC_log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log1p</a:t>
            </a:r>
            <a:r>
              <a:rPr>
                <a:latin typeface="Courier"/>
              </a:rPr>
              <a:t>(SOC))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变换后检验</a:t>
            </a:r>
            <a:br/>
            <a:r>
              <a:rPr>
                <a:solidFill>
                  <a:srgbClr val="06287E"/>
                </a:solidFill>
                <a:latin typeface="Courier"/>
              </a:rPr>
              <a:t>shapiro.test</a:t>
            </a:r>
            <a:r>
              <a:rPr>
                <a:latin typeface="Courier"/>
              </a:rPr>
              <a:t>(soil_transformed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SOC_log)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可视化对比</a:t>
            </a:r>
            <a:br/>
            <a:r>
              <a:rPr>
                <a:solidFill>
                  <a:srgbClr val="06287E"/>
                </a:solidFill>
                <a:latin typeface="Courier"/>
              </a:rPr>
              <a:t>par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mfrow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))</a:t>
            </a:r>
            <a:br/>
            <a:r>
              <a:rPr>
                <a:solidFill>
                  <a:srgbClr val="06287E"/>
                </a:solidFill>
                <a:latin typeface="Courier"/>
              </a:rPr>
              <a:t>hist</a:t>
            </a:r>
            <a:r>
              <a:rPr>
                <a:latin typeface="Courier"/>
              </a:rPr>
              <a:t>(soil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SOC, </a:t>
            </a:r>
            <a:r>
              <a:rPr>
                <a:solidFill>
                  <a:srgbClr val="7D9029"/>
                </a:solidFill>
                <a:latin typeface="Courier"/>
              </a:rPr>
              <a:t>main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"原始 SOC"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7D9029"/>
                </a:solidFill>
                <a:latin typeface="Courier"/>
              </a:rPr>
              <a:t>xlab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"SOC (g/kg)"</a:t>
            </a:r>
            <a:r>
              <a:rPr>
                <a:latin typeface="Courier"/>
              </a:rPr>
              <a:t>)</a:t>
            </a:r>
            <a:br/>
            <a:r>
              <a:rPr>
                <a:solidFill>
                  <a:srgbClr val="06287E"/>
                </a:solidFill>
                <a:latin typeface="Courier"/>
              </a:rPr>
              <a:t>hist</a:t>
            </a:r>
            <a:r>
              <a:rPr>
                <a:latin typeface="Courier"/>
              </a:rPr>
              <a:t>(soil_transformed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SOC_log, </a:t>
            </a:r>
            <a:r>
              <a:rPr>
                <a:solidFill>
                  <a:srgbClr val="7D9029"/>
                </a:solidFill>
                <a:latin typeface="Courier"/>
              </a:rPr>
              <a:t>main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"log(SOC+1)"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7D9029"/>
                </a:solidFill>
                <a:latin typeface="Courier"/>
              </a:rPr>
              <a:t>xlab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"log(SOC+1)"</a:t>
            </a:r>
            <a:r>
              <a:rPr>
                <a:latin typeface="Courier"/>
              </a:rPr>
              <a:t>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代码示例：分类变量编码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#| eval: false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因子排序：指定有意义的顺序</a:t>
            </a:r>
            <a:br/>
            <a:r>
              <a:rPr>
                <a:latin typeface="Courier"/>
              </a:rPr>
              <a:t>soil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soil </a:t>
            </a:r>
            <a:r>
              <a:rPr>
                <a:solidFill>
                  <a:srgbClr val="4070A0"/>
                </a:solidFill>
                <a:latin typeface="Courier"/>
              </a:rPr>
              <a:t>|&gt;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mutate</a:t>
            </a:r>
            <a:r>
              <a:rPr>
                <a:latin typeface="Courier"/>
              </a:rPr>
              <a:t>(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7D9029"/>
                </a:solidFill>
                <a:latin typeface="Courier"/>
              </a:rPr>
              <a:t>slope_class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factor</a:t>
            </a:r>
            <a:r>
              <a:rPr>
                <a:latin typeface="Courier"/>
              </a:rPr>
              <a:t>(slope_class,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7D9029"/>
                </a:solidFill>
                <a:latin typeface="Courier"/>
              </a:rPr>
              <a:t>levels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"平坡"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"缓坡"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"斜坡"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"陡坡"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7D9029"/>
                </a:solidFill>
                <a:latin typeface="Courier"/>
              </a:rPr>
              <a:t>ordered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TRUE</a:t>
            </a:r>
            <a:br/>
            <a:r>
              <a:rPr>
                <a:latin typeface="Courier"/>
              </a:rPr>
              <a:t>    )</a:t>
            </a:r>
            <a:br/>
            <a:r>
              <a:rPr>
                <a:latin typeface="Courier"/>
              </a:rPr>
              <a:t>  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哑变量编码：用于回归模型</a:t>
            </a:r>
            <a:br/>
            <a:r>
              <a:rPr>
                <a:latin typeface="Courier"/>
              </a:rPr>
              <a:t>dummy_matrix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model.matrix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~</a:t>
            </a:r>
            <a:r>
              <a:rPr>
                <a:latin typeface="Courier"/>
              </a:rPr>
              <a:t> land_use </a:t>
            </a:r>
            <a:r>
              <a:rPr>
                <a:solidFill>
                  <a:srgbClr val="4070A0"/>
                </a:solidFill>
                <a:latin typeface="Courier"/>
              </a:rPr>
              <a:t>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7D9029"/>
                </a:solidFill>
                <a:latin typeface="Courier"/>
              </a:rPr>
              <a:t>data =</a:t>
            </a:r>
            <a:r>
              <a:rPr>
                <a:latin typeface="Courier"/>
              </a:rPr>
              <a:t> soil)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坡向角度编码：将 0-360 度转换为连续变量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直接用角度值会导致 0 度和 360 度被视为极端不同</a:t>
            </a:r>
            <a:br/>
            <a:r>
              <a:rPr>
                <a:latin typeface="Courier"/>
              </a:rPr>
              <a:t>soil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soil </a:t>
            </a:r>
            <a:r>
              <a:rPr>
                <a:solidFill>
                  <a:srgbClr val="4070A0"/>
                </a:solidFill>
                <a:latin typeface="Courier"/>
              </a:rPr>
              <a:t>|&gt;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mutate</a:t>
            </a:r>
            <a:r>
              <a:rPr>
                <a:latin typeface="Courier"/>
              </a:rPr>
              <a:t>(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7D9029"/>
                </a:solidFill>
                <a:latin typeface="Courier"/>
              </a:rPr>
              <a:t>aspect_sin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sin</a:t>
            </a:r>
            <a:r>
              <a:rPr>
                <a:latin typeface="Courier"/>
              </a:rPr>
              <a:t>(aspect </a:t>
            </a:r>
            <a:r>
              <a:rPr>
                <a:solidFill>
                  <a:srgbClr val="4070A0"/>
                </a:solidFill>
                <a:latin typeface="Courier"/>
              </a:rPr>
              <a:t>*</a:t>
            </a:r>
            <a:r>
              <a:rPr>
                <a:latin typeface="Courier"/>
              </a:rPr>
              <a:t> pi </a:t>
            </a:r>
            <a:r>
              <a:rPr>
                <a:solidFill>
                  <a:srgbClr val="4070A0"/>
                </a:solidFill>
                <a:latin typeface="Courier"/>
              </a:rPr>
              <a:t>/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180</a:t>
            </a:r>
            <a:r>
              <a:rPr>
                <a:latin typeface="Courier"/>
              </a:rPr>
              <a:t>),  </a:t>
            </a:r>
            <a:r>
              <a:rPr i="1">
                <a:solidFill>
                  <a:srgbClr val="60A0B0"/>
                </a:solidFill>
                <a:latin typeface="Courier"/>
              </a:rPr>
              <a:t># 南北分量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7D9029"/>
                </a:solidFill>
                <a:latin typeface="Courier"/>
              </a:rPr>
              <a:t>aspect_cos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cos</a:t>
            </a:r>
            <a:r>
              <a:rPr>
                <a:latin typeface="Courier"/>
              </a:rPr>
              <a:t>(aspect </a:t>
            </a:r>
            <a:r>
              <a:rPr>
                <a:solidFill>
                  <a:srgbClr val="4070A0"/>
                </a:solidFill>
                <a:latin typeface="Courier"/>
              </a:rPr>
              <a:t>*</a:t>
            </a:r>
            <a:r>
              <a:rPr>
                <a:latin typeface="Courier"/>
              </a:rPr>
              <a:t> pi </a:t>
            </a:r>
            <a:r>
              <a:rPr>
                <a:solidFill>
                  <a:srgbClr val="4070A0"/>
                </a:solidFill>
                <a:latin typeface="Courier"/>
              </a:rPr>
              <a:t>/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180</a:t>
            </a:r>
            <a:r>
              <a:rPr>
                <a:latin typeface="Courier"/>
              </a:rPr>
              <a:t>)   </a:t>
            </a:r>
            <a:r>
              <a:rPr i="1">
                <a:solidFill>
                  <a:srgbClr val="60A0B0"/>
                </a:solidFill>
                <a:latin typeface="Courier"/>
              </a:rPr>
              <a:t># 东西分量</a:t>
            </a:r>
            <a:br/>
            <a:r>
              <a:rPr>
                <a:latin typeface="Courier"/>
              </a:rPr>
              <a:t>  )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代码示例：长宽格式转换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#| eval: false</a:t>
            </a:r>
            <a:br/>
            <a:r>
              <a:rPr>
                <a:solidFill>
                  <a:srgbClr val="06287E"/>
                </a:solidFill>
                <a:latin typeface="Courier"/>
              </a:rPr>
              <a:t>library</a:t>
            </a:r>
            <a:r>
              <a:rPr>
                <a:latin typeface="Courier"/>
              </a:rPr>
              <a:t>(tidyr)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宽格式 → 长格式（适合 ggplot2 绑定）</a:t>
            </a:r>
            <a:br/>
            <a:r>
              <a:rPr>
                <a:latin typeface="Courier"/>
              </a:rPr>
              <a:t>soil_long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soil </a:t>
            </a:r>
            <a:r>
              <a:rPr>
                <a:solidFill>
                  <a:srgbClr val="4070A0"/>
                </a:solidFill>
                <a:latin typeface="Courier"/>
              </a:rPr>
              <a:t>|&gt;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pivot_longer</a:t>
            </a:r>
            <a:r>
              <a:rPr>
                <a:latin typeface="Courier"/>
              </a:rPr>
              <a:t>(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7D9029"/>
                </a:solidFill>
                <a:latin typeface="Courier"/>
              </a:rPr>
              <a:t>cols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</a:t>
            </a:r>
            <a:r>
              <a:rPr>
                <a:latin typeface="Courier"/>
              </a:rPr>
              <a:t>(SOC, TN, TP, pH),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7D9029"/>
                </a:solidFill>
                <a:latin typeface="Courier"/>
              </a:rPr>
              <a:t>names_to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"variable"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7D9029"/>
                </a:solidFill>
                <a:latin typeface="Courier"/>
              </a:rPr>
              <a:t>values_to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"value"</a:t>
            </a:r>
            <a:br/>
            <a:r>
              <a:rPr>
                <a:latin typeface="Courier"/>
              </a:rPr>
              <a:t>  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长格式 → 宽格式（适合建模矩阵）</a:t>
            </a:r>
            <a:br/>
            <a:r>
              <a:rPr>
                <a:latin typeface="Courier"/>
              </a:rPr>
              <a:t>soil_wide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soil_long </a:t>
            </a:r>
            <a:r>
              <a:rPr>
                <a:solidFill>
                  <a:srgbClr val="4070A0"/>
                </a:solidFill>
                <a:latin typeface="Courier"/>
              </a:rPr>
              <a:t>|&gt;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pivot_wider</a:t>
            </a:r>
            <a:r>
              <a:rPr>
                <a:latin typeface="Courier"/>
              </a:rPr>
              <a:t>(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7D9029"/>
                </a:solidFill>
                <a:latin typeface="Courier"/>
              </a:rPr>
              <a:t>names_from =</a:t>
            </a:r>
            <a:r>
              <a:rPr>
                <a:latin typeface="Courier"/>
              </a:rPr>
              <a:t> variable,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7D9029"/>
                </a:solidFill>
                <a:latin typeface="Courier"/>
              </a:rPr>
              <a:t>values_from =</a:t>
            </a:r>
            <a:r>
              <a:rPr>
                <a:latin typeface="Courier"/>
              </a:rPr>
              <a:t> value</a:t>
            </a:r>
            <a:br/>
            <a:r>
              <a:rPr>
                <a:latin typeface="Courier"/>
              </a:rPr>
              <a:t>  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实际应用：长格式便于分面绑图</a:t>
            </a:r>
            <a:br/>
            <a:r>
              <a:rPr>
                <a:solidFill>
                  <a:srgbClr val="06287E"/>
                </a:solidFill>
                <a:latin typeface="Courier"/>
              </a:rPr>
              <a:t>library</a:t>
            </a:r>
            <a:r>
              <a:rPr>
                <a:latin typeface="Courier"/>
              </a:rPr>
              <a:t>(ggplot2)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ggplot</a:t>
            </a:r>
            <a:r>
              <a:rPr>
                <a:latin typeface="Courier"/>
              </a:rPr>
              <a:t>(soil_long, </a:t>
            </a:r>
            <a:r>
              <a:rPr>
                <a:solidFill>
                  <a:srgbClr val="06287E"/>
                </a:solidFill>
                <a:latin typeface="Courier"/>
              </a:rPr>
              <a:t>aes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x =</a:t>
            </a:r>
            <a:r>
              <a:rPr>
                <a:latin typeface="Courier"/>
              </a:rPr>
              <a:t> value))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geom_histogram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bins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20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facet_wrap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~</a:t>
            </a:r>
            <a:r>
              <a:rPr>
                <a:latin typeface="Courier"/>
              </a:rPr>
              <a:t> variable, </a:t>
            </a:r>
            <a:r>
              <a:rPr>
                <a:solidFill>
                  <a:srgbClr val="7D9029"/>
                </a:solidFill>
                <a:latin typeface="Courier"/>
              </a:rPr>
              <a:t>scales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"free"</a:t>
            </a:r>
            <a:r>
              <a:rPr>
                <a:latin typeface="Courier"/>
              </a:rPr>
              <a:t>)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代码示例：特征构造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#| eval: false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领域知识驱动的特征构造</a:t>
            </a:r>
            <a:br/>
            <a:r>
              <a:rPr>
                <a:latin typeface="Courier"/>
              </a:rPr>
              <a:t>soil_features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soil </a:t>
            </a:r>
            <a:r>
              <a:rPr>
                <a:solidFill>
                  <a:srgbClr val="4070A0"/>
                </a:solidFill>
                <a:latin typeface="Courier"/>
              </a:rPr>
              <a:t>|&gt;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mutate</a:t>
            </a:r>
            <a:r>
              <a:rPr>
                <a:latin typeface="Courier"/>
              </a:rPr>
              <a:t>(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C/N 比：反映有机质分解程度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7D9029"/>
                </a:solidFill>
                <a:latin typeface="Courier"/>
              </a:rPr>
              <a:t>CN_ratio =</a:t>
            </a:r>
            <a:r>
              <a:rPr>
                <a:latin typeface="Courier"/>
              </a:rPr>
              <a:t> SOC </a:t>
            </a:r>
            <a:r>
              <a:rPr>
                <a:solidFill>
                  <a:srgbClr val="4070A0"/>
                </a:solidFill>
                <a:latin typeface="Courier"/>
              </a:rPr>
              <a:t>/</a:t>
            </a:r>
            <a:r>
              <a:rPr>
                <a:latin typeface="Courier"/>
              </a:rPr>
              <a:t> TN,</a:t>
            </a:r>
            <a:br/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土壤质地分类（基于黏粒含量）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7D9029"/>
                </a:solidFill>
                <a:latin typeface="Courier"/>
              </a:rPr>
              <a:t>texture_class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case_when</a:t>
            </a:r>
            <a:r>
              <a:rPr>
                <a:latin typeface="Courier"/>
              </a:rPr>
              <a:t>(</a:t>
            </a:r>
            <a:br/>
            <a:r>
              <a:rPr>
                <a:latin typeface="Courier"/>
              </a:rPr>
              <a:t>      clay </a:t>
            </a:r>
            <a:r>
              <a:rPr>
                <a:solidFill>
                  <a:srgbClr val="4070A0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40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~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"黏土"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  clay </a:t>
            </a:r>
            <a:r>
              <a:rPr>
                <a:solidFill>
                  <a:srgbClr val="4070A0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25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~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"壤土"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880000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      </a:t>
            </a:r>
            <a:r>
              <a:rPr>
                <a:solidFill>
                  <a:srgbClr val="4070A0"/>
                </a:solidFill>
                <a:latin typeface="Courier"/>
              </a:rPr>
              <a:t>~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"砂土"</a:t>
            </a:r>
            <a:br/>
            <a:r>
              <a:rPr>
                <a:latin typeface="Courier"/>
              </a:rPr>
              <a:t>    ),</a:t>
            </a:r>
            <a:br/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海拔等级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7D9029"/>
                </a:solidFill>
                <a:latin typeface="Courier"/>
              </a:rPr>
              <a:t>elev_class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cut</a:t>
            </a:r>
            <a:r>
              <a:rPr>
                <a:latin typeface="Courier"/>
              </a:rPr>
              <a:t>(elevation,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7D9029"/>
                </a:solidFill>
                <a:latin typeface="Courier"/>
              </a:rPr>
              <a:t>breaks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500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1000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1500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880000"/>
                </a:solidFill>
                <a:latin typeface="Courier"/>
              </a:rPr>
              <a:t>Inf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7D9029"/>
                </a:solidFill>
                <a:latin typeface="Courier"/>
              </a:rPr>
              <a:t>labels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"低海拔"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"中海拔"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"中高海拔"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"高海拔"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),</a:t>
            </a:r>
            <a:br/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坡度等级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7D9029"/>
                </a:solidFill>
                <a:latin typeface="Courier"/>
              </a:rPr>
              <a:t>slope_class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cut</a:t>
            </a:r>
            <a:r>
              <a:rPr>
                <a:latin typeface="Courier"/>
              </a:rPr>
              <a:t>(slope,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7D9029"/>
                </a:solidFill>
                <a:latin typeface="Courier"/>
              </a:rPr>
              <a:t>breaks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15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25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880000"/>
                </a:solidFill>
                <a:latin typeface="Courier"/>
              </a:rPr>
              <a:t>Inf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7D9029"/>
                </a:solidFill>
                <a:latin typeface="Courier"/>
              </a:rPr>
              <a:t>labels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"平坡"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"缓坡"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"斜坡"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"陡坡"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)</a:t>
            </a:r>
            <a:br/>
            <a:r>
              <a:rPr>
                <a:latin typeface="Courier"/>
              </a:rPr>
              <a:t>  )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代码示例：交互特征与综合指标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#| eval: false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交互特征：捕捉变量间的协同效应</a:t>
            </a:r>
            <a:br/>
            <a:r>
              <a:rPr>
                <a:latin typeface="Courier"/>
              </a:rPr>
              <a:t>soil_features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soil_features </a:t>
            </a:r>
            <a:r>
              <a:rPr>
                <a:solidFill>
                  <a:srgbClr val="4070A0"/>
                </a:solidFill>
                <a:latin typeface="Courier"/>
              </a:rPr>
              <a:t>|&gt;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mutate</a:t>
            </a:r>
            <a:r>
              <a:rPr>
                <a:latin typeface="Courier"/>
              </a:rPr>
              <a:t>(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海拔-坡度交互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7D9029"/>
                </a:solidFill>
                <a:latin typeface="Courier"/>
              </a:rPr>
              <a:t>elev_slope =</a:t>
            </a:r>
            <a:r>
              <a:rPr>
                <a:latin typeface="Courier"/>
              </a:rPr>
              <a:t> elevation </a:t>
            </a:r>
            <a:r>
              <a:rPr>
                <a:solidFill>
                  <a:srgbClr val="4070A0"/>
                </a:solidFill>
                <a:latin typeface="Courier"/>
              </a:rPr>
              <a:t>*</a:t>
            </a:r>
            <a:r>
              <a:rPr>
                <a:latin typeface="Courier"/>
              </a:rPr>
              <a:t> slope,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有机碳-黏粒交互（黏粒对有机碳的固持作用）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7D9029"/>
                </a:solidFill>
                <a:latin typeface="Courier"/>
              </a:rPr>
              <a:t>SOC_clay =</a:t>
            </a:r>
            <a:r>
              <a:rPr>
                <a:latin typeface="Courier"/>
              </a:rPr>
              <a:t> SOC </a:t>
            </a:r>
            <a:r>
              <a:rPr>
                <a:solidFill>
                  <a:srgbClr val="4070A0"/>
                </a:solidFill>
                <a:latin typeface="Courier"/>
              </a:rPr>
              <a:t>*</a:t>
            </a:r>
            <a:r>
              <a:rPr>
                <a:latin typeface="Courier"/>
              </a:rPr>
              <a:t> clay</a:t>
            </a:r>
            <a:br/>
            <a:r>
              <a:rPr>
                <a:latin typeface="Courier"/>
              </a:rPr>
              <a:t>  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土壤质量指数 (SQI)：多指标综合评价</a:t>
            </a:r>
            <a:br/>
            <a:r>
              <a:rPr>
                <a:latin typeface="Courier"/>
              </a:rPr>
              <a:t>soil_features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soil_features </a:t>
            </a:r>
            <a:r>
              <a:rPr>
                <a:solidFill>
                  <a:srgbClr val="4070A0"/>
                </a:solidFill>
                <a:latin typeface="Courier"/>
              </a:rPr>
              <a:t>|&gt;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mutate</a:t>
            </a:r>
            <a:r>
              <a:rPr>
                <a:latin typeface="Courier"/>
              </a:rPr>
              <a:t>(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7D9029"/>
                </a:solidFill>
                <a:latin typeface="Courier"/>
              </a:rPr>
              <a:t>SOC_score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min_max_norm</a:t>
            </a:r>
            <a:r>
              <a:rPr>
                <a:latin typeface="Courier"/>
              </a:rPr>
              <a:t>(SOC),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7D9029"/>
                </a:solidFill>
                <a:latin typeface="Courier"/>
              </a:rPr>
              <a:t>TN_score 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min_max_norm</a:t>
            </a:r>
            <a:r>
              <a:rPr>
                <a:latin typeface="Courier"/>
              </a:rPr>
              <a:t>(TN),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7D9029"/>
                </a:solidFill>
                <a:latin typeface="Courier"/>
              </a:rPr>
              <a:t>pH_score 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abs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min_max_norm</a:t>
            </a:r>
            <a:r>
              <a:rPr>
                <a:latin typeface="Courier"/>
              </a:rPr>
              <a:t>(pH) </a:t>
            </a:r>
            <a:r>
              <a:rPr>
                <a:solidFill>
                  <a:srgbClr val="4070A0"/>
                </a:solidFill>
                <a:latin typeface="Courier"/>
              </a:rPr>
              <a:t>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0.5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4070A0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,  </a:t>
            </a:r>
            <a:r>
              <a:rPr i="1">
                <a:solidFill>
                  <a:srgbClr val="60A0B0"/>
                </a:solidFill>
                <a:latin typeface="Courier"/>
              </a:rPr>
              <a:t># pH 中性最优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7D9029"/>
                </a:solidFill>
                <a:latin typeface="Courier"/>
              </a:rPr>
              <a:t>SQI =</a:t>
            </a:r>
            <a:r>
              <a:rPr>
                <a:latin typeface="Courier"/>
              </a:rPr>
              <a:t> (SOC_score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r>
              <a:rPr>
                <a:latin typeface="Courier"/>
              </a:rPr>
              <a:t> TN_score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r>
              <a:rPr>
                <a:latin typeface="Courier"/>
              </a:rPr>
              <a:t> pH_score) </a:t>
            </a:r>
            <a:r>
              <a:rPr>
                <a:solidFill>
                  <a:srgbClr val="4070A0"/>
                </a:solidFill>
                <a:latin typeface="Courier"/>
              </a:rPr>
              <a:t>/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br/>
            <a:r>
              <a:rPr>
                <a:latin typeface="Courier"/>
              </a:rPr>
              <a:t>  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核心原则：领域知识 &gt; 盲目特征组合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每个构造特征都应有明确的科学解释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实践要点</a:t>
            </a:r>
          </a:p>
          <a:p>
            <a:pPr lvl="0"/>
            <a:r>
              <a:rPr b="1"/>
              <a:t>要点一</a:t>
            </a:r>
            <a:r>
              <a:rPr/>
              <a:t>：选择标准化方法要匹配下游分析需求——PCA 和聚类用 Z-score，需要固定范围的指标用 Min-Max</a:t>
            </a:r>
          </a:p>
          <a:p>
            <a:pPr lvl="0"/>
            <a:r>
              <a:rPr b="1"/>
              <a:t>要点二</a:t>
            </a:r>
            <a:r>
              <a:rPr/>
              <a:t>：对数变换前检查数据是否包含零值或负值，含零值时使用 </a:t>
            </a:r>
            <a:r>
              <a:rPr>
                <a:latin typeface="Courier"/>
              </a:rPr>
              <a:t>log1p()</a:t>
            </a:r>
            <a:r>
              <a:rPr/>
              <a:t>；变换前后均需做正态性检验</a:t>
            </a:r>
          </a:p>
          <a:p>
            <a:pPr lvl="0"/>
            <a:r>
              <a:rPr b="1"/>
              <a:t>要点三</a:t>
            </a:r>
            <a:r>
              <a:rPr/>
              <a:t>：特征构造应由领域知识驱动，每个新特征都应有明确的科学含义，避免盲目组合产生无意义变量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/>
              <a:t>动手实践是学习本课程的关键，请在电脑前跟随课程一起操作。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常见问题与解答</a:t>
            </a:r>
          </a:p>
          <a:p>
            <a:pPr lvl="0" indent="0" marL="0">
              <a:buNone/>
            </a:pPr>
            <a:r>
              <a:rPr b="1"/>
              <a:t>Q1</a:t>
            </a:r>
            <a:r>
              <a:rPr/>
              <a:t>：Z-score 标准化和 Min-Max 归一化应该如何选择？</a:t>
            </a:r>
          </a:p>
          <a:p>
            <a:pPr lvl="0" indent="0" marL="0">
              <a:buNone/>
            </a:pPr>
            <a:r>
              <a:rPr b="1"/>
              <a:t>A1</a:t>
            </a:r>
            <a:r>
              <a:rPr/>
              <a:t>：Z-score 适合数据近似正态且对极端值不太敏感的场景（如 PCA、线性回归）；Min-Max 适合需要固定范围（如 [0, 1]）的场景（如神经网络输入、指标构建），但对极端值敏感。如果数据存在严重异常值，优先选择 Z-score。</a:t>
            </a:r>
          </a:p>
          <a:p>
            <a:pPr lvl="0" indent="0" marL="0">
              <a:buNone/>
            </a:pPr>
            <a:r>
              <a:rPr b="1"/>
              <a:t>Q2</a:t>
            </a:r>
            <a:r>
              <a:rPr/>
              <a:t>：为什么坡向（aspect）不能直接作为数值变量使用？</a:t>
            </a:r>
          </a:p>
          <a:p>
            <a:pPr lvl="0" indent="0" marL="0">
              <a:buNone/>
            </a:pPr>
            <a:r>
              <a:rPr b="1"/>
              <a:t>A2</a:t>
            </a:r>
            <a:r>
              <a:rPr/>
              <a:t>：坡向是 0–360 度的循环变量，0 度和 360 度实际上是同一个方向（正北），但数值上差异最大。用正弦和余弦分解为两个连续变量（南北分量和东西分量），可以正确表示方向的连续性和周期性。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本章小结</a:t>
            </a:r>
          </a:p>
          <a:p>
            <a:pPr lvl="0" indent="-342900" marL="342900">
              <a:buAutoNum type="arabicPeriod"/>
            </a:pPr>
            <a:r>
              <a:rPr/>
              <a:t>数值变量标准化需根据分析目标选择 Z-score 或 Min-Max，对数变换是处理右偏分布的基本工具</a:t>
            </a:r>
          </a:p>
          <a:p>
            <a:pPr lvl="0" indent="-342900" marL="342900">
              <a:buAutoNum type="arabicPeriod"/>
            </a:pPr>
            <a:r>
              <a:rPr/>
              <a:t>分类变量编码需考虑有序/无序、周期性等特征，坡向等循环变量需用三角函数编码</a:t>
            </a:r>
          </a:p>
          <a:p>
            <a:pPr lvl="0" indent="-342900" marL="342900">
              <a:buAutoNum type="arabicPeriod"/>
            </a:pPr>
            <a:r>
              <a:rPr/>
              <a:t>特征工程应以领域知识为指导，构造有科学意义的衍生变量（C/N 比、质地分类、SQI 等）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课后任务</a:t>
            </a:r>
          </a:p>
          <a:p>
            <a:pPr lvl="0"/>
            <a:r>
              <a:rPr/>
              <a:t>对你的数据集中至少两个数值变量分别做 Z-score 和 Min-Max 转换，比较结果差异</a:t>
            </a:r>
          </a:p>
          <a:p>
            <a:pPr lvl="0"/>
            <a:r>
              <a:rPr/>
              <a:t>检查你的数据是否存在右偏变量，用对数变换并做 Shapiro-Wilk 检验</a:t>
            </a:r>
          </a:p>
          <a:p>
            <a:pPr lvl="0"/>
            <a:r>
              <a:rPr/>
              <a:t>基于领域知识构造至少一个新特征变量，并解释其科学含义</a:t>
            </a:r>
          </a:p>
          <a:p>
            <a:pPr lvl="0"/>
            <a:r>
              <a:rPr b="1"/>
              <a:t>选做</a:t>
            </a:r>
            <a:r>
              <a:rPr/>
              <a:t>：构建一个多指标综合评价指数（如 SQI）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延伸阅读</a:t>
            </a:r>
          </a:p>
          <a:p>
            <a:pPr lvl="0"/>
            <a:r>
              <a:rPr/>
              <a:t>Wickham, H. - tidyr 包文档：数据格式转换</a:t>
            </a:r>
          </a:p>
          <a:p>
            <a:pPr lvl="0"/>
            <a:r>
              <a:rPr/>
              <a:t>Feature Engineering and Selection (Kuhn &amp; Johnson) - 特征工程系统方法</a:t>
            </a:r>
          </a:p>
          <a:p>
            <a:pPr lvl="0"/>
            <a:r>
              <a:rPr/>
              <a:t>土壤学相关文献中 C/N 比和土壤质量指数的应用案例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46</Words>
  <Application>Microsoft Macintosh PowerPoint</Application>
  <PresentationFormat>全屏显示(16:9)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Microsoft YaHei</vt:lpstr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数据转换与特征工程</dc:title>
  <dc:creator>Huaqing Liu</dc:creator>
  <cp:keywords/>
  <dcterms:created xsi:type="dcterms:W3CDTF">2026-03-31T08:55:34Z</dcterms:created>
  <dcterms:modified xsi:type="dcterms:W3CDTF">2026-03-31T08:55:34Z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ibliography">
    <vt:lpwstr/>
  </property>
  <property fmtid="{D5CDD505-2E9C-101B-9397-08002B2CF9AE}" pid="5" name="by-author">
    <vt:lpwstr/>
  </property>
  <property fmtid="{D5CDD505-2E9C-101B-9397-08002B2CF9AE}" pid="6" name="engines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toc-title">
    <vt:lpwstr>Table of contents</vt:lpwstr>
  </property>
</Properties>
</file>