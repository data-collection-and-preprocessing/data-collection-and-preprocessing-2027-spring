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python-requests.org/" TargetMode="External" /><Relationship Id="rId3" Type="http://schemas.openxmlformats.org/officeDocument/2006/relationships/hyperlink" Target="https://www.crummy.com/software/BeautifulSoup/bs4/doc/" TargetMode="External" /><Relationship Id="rId4" Type="http://schemas.openxmlformats.org/officeDocument/2006/relationships/hyperlink" Target="https://www.gbif.org/developer/summary" TargetMode="External" /><Relationship Id="rId5" Type="http://schemas.openxmlformats.org/officeDocument/2006/relationships/hyperlink" Target="https://open-meteo.com/en/doc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Python 数据采集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0208 Python 数据采集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教材章节：0208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Python 在数据采集中的优势及核心库生态</a:t>
            </a:r>
          </a:p>
          <a:p>
            <a:pPr lvl="0"/>
            <a:r>
              <a:rPr/>
              <a:t>掌握 HTTP 请求、网页解析与 API 数据获取的基本方法</a:t>
            </a:r>
          </a:p>
          <a:p>
            <a:pPr lvl="0"/>
            <a:r>
              <a:rPr/>
              <a:t>学会 使用 requests + BeautifulSoup + pandas 完成数据采集流程</a:t>
            </a:r>
          </a:p>
          <a:p>
            <a:pPr lvl="0"/>
            <a:r>
              <a:rPr/>
              <a:t>了解 数据采集的伦理规范与反爬虫应对策略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 b="1"/>
              <a:t>第一节</a:t>
            </a:r>
            <a:r>
              <a:rPr/>
              <a:t>：Python 数据采集基础</a:t>
            </a:r>
          </a:p>
          <a:p>
            <a:pPr lvl="0" indent="-342900" marL="342900">
              <a:buAutoNum type="arabicPeriod"/>
            </a:pPr>
            <a:r>
              <a:rPr b="1"/>
              <a:t>第二节</a:t>
            </a:r>
            <a:r>
              <a:rPr/>
              <a:t>：网页解析与 API 调用</a:t>
            </a:r>
          </a:p>
          <a:p>
            <a:pPr lvl="0" indent="-342900" marL="342900">
              <a:buAutoNum type="arabicPeriod"/>
            </a:pPr>
            <a:r>
              <a:rPr b="1"/>
              <a:t>第三节</a:t>
            </a:r>
            <a:r>
              <a:rPr/>
              <a:t>：实战案例（GBIF 与 Open-Meteo）</a:t>
            </a:r>
          </a:p>
          <a:p>
            <a:pPr lvl="0" indent="-342900" marL="342900">
              <a:buAutoNum type="arabicPeriod"/>
            </a:pPr>
            <a:r>
              <a:rPr b="1"/>
              <a:t>第四节</a:t>
            </a:r>
            <a:r>
              <a:rPr/>
              <a:t>：采集伦理与数据保存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/>
            <a:r>
              <a:rPr b="1"/>
              <a:t>概念一</a:t>
            </a:r>
            <a:r>
              <a:rPr/>
              <a:t>：HTTP 请求（Request）：客户端向服务器发送数据获取请求，服务器返回响应（Response）</a:t>
            </a:r>
          </a:p>
          <a:p>
            <a:pPr lvl="0"/>
            <a:r>
              <a:rPr b="1"/>
              <a:t>概念二</a:t>
            </a:r>
            <a:r>
              <a:rPr/>
              <a:t>：API（Application Programming Interface）：网站提供的结构化数据接口，返回 JSON 等格式数据</a:t>
            </a:r>
          </a:p>
          <a:p>
            <a:pPr lvl="0"/>
            <a:r>
              <a:rPr b="1"/>
              <a:t>概念三</a:t>
            </a:r>
            <a:r>
              <a:rPr/>
              <a:t>：网页解析（Web Scraping）：从 HTML 页面中提取目标数据的技术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这些核心概念是理解本章内容的基础，请确保掌握。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为什么用 Python 做数据采集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优势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丰富的库生态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requests、BeautifulSoup、pandas、selenium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语法简洁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几行代码即可完成 HTTP 请求和数据解析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数据处理一体化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采集、清洗、分析、可视化一站完成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社区资源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大量教程、示例和开源爬虫项目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conda 环境管理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创建专用环境</a:t>
            </a:r>
            <a:br/>
            <a:r>
              <a:rPr>
                <a:latin typeface="Courier"/>
              </a:rPr>
              <a:t>conda create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n datacollect python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3.11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激活环境</a:t>
            </a:r>
            <a:br/>
            <a:r>
              <a:rPr>
                <a:latin typeface="Courier"/>
              </a:rPr>
              <a:t>conda activate datacollect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安装核心库</a:t>
            </a:r>
            <a:br/>
            <a:r>
              <a:rPr>
                <a:latin typeface="Courier"/>
              </a:rPr>
              <a:t>pip install requests beautifulsoup4 pandas lxml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导出环境（可重复性）</a:t>
            </a:r>
            <a:br/>
            <a:r>
              <a:rPr>
                <a:latin typeface="Courier"/>
              </a:rPr>
              <a:t>conda env export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environment.yml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始终为每个项目创建独立的 conda 环境，避免包版本冲突。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HTTP 请求基础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requests</a:t>
            </a:r>
            <a:br/>
            <a:br/>
            <a:r>
              <a:rPr>
                <a:latin typeface="Courier"/>
              </a:rPr>
              <a:t>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requests.get(</a:t>
            </a:r>
            <a:r>
              <a:rPr>
                <a:solidFill>
                  <a:srgbClr val="4070A0"/>
                </a:solidFill>
                <a:latin typeface="Courier"/>
              </a:rPr>
              <a:t>"https://example.com/data"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(response.status_code)  </a:t>
            </a:r>
            <a:r>
              <a:rPr i="1">
                <a:solidFill>
                  <a:srgbClr val="60A0B0"/>
                </a:solidFill>
                <a:latin typeface="Courier"/>
              </a:rPr>
              <a:t># 200 = 成功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(response.text)         </a:t>
            </a:r>
            <a:r>
              <a:rPr i="1">
                <a:solidFill>
                  <a:srgbClr val="60A0B0"/>
                </a:solidFill>
                <a:latin typeface="Courier"/>
              </a:rPr>
              <a:t># 响应内容（文本）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(response.json())       </a:t>
            </a:r>
            <a:r>
              <a:rPr i="1">
                <a:solidFill>
                  <a:srgbClr val="60A0B0"/>
                </a:solidFill>
                <a:latin typeface="Courier"/>
              </a:rPr>
              <a:t># 响应内容（JSON）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HTTP 状态码速查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状态码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应对方式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请求成功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正常解析数据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禁止访问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检查 User-Agent，确认是否被封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页面不存在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检查 URL 是否正确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请求过于频繁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降低请求频率，添加 time.sleep()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服务器内部错误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稍后重试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BeautifulSoup 网页解析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bs4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BeautifulSoup</a:t>
            </a:r>
            <a:br/>
            <a:br/>
            <a:r>
              <a:rPr>
                <a:latin typeface="Courier"/>
              </a:rPr>
              <a:t>html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requests.get(</a:t>
            </a:r>
            <a:r>
              <a:rPr>
                <a:solidFill>
                  <a:srgbClr val="4070A0"/>
                </a:solidFill>
                <a:latin typeface="Courier"/>
              </a:rPr>
              <a:t>"https://example.com"</a:t>
            </a:r>
            <a:r>
              <a:rPr>
                <a:latin typeface="Courier"/>
              </a:rPr>
              <a:t>).text</a:t>
            </a:r>
            <a:br/>
            <a:r>
              <a:rPr>
                <a:latin typeface="Courier"/>
              </a:rPr>
              <a:t>soup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BeautifulSoup(html, </a:t>
            </a:r>
            <a:r>
              <a:rPr>
                <a:solidFill>
                  <a:srgbClr val="4070A0"/>
                </a:solidFill>
                <a:latin typeface="Courier"/>
              </a:rPr>
              <a:t>"lxml"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查找单个元素</a:t>
            </a:r>
            <a:br/>
            <a:r>
              <a:rPr>
                <a:latin typeface="Courier"/>
              </a:rPr>
              <a:t>title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soup.find(</a:t>
            </a:r>
            <a:r>
              <a:rPr>
                <a:solidFill>
                  <a:srgbClr val="4070A0"/>
                </a:solidFill>
                <a:latin typeface="Courier"/>
              </a:rPr>
              <a:t>"h1"</a:t>
            </a:r>
            <a:r>
              <a:rPr>
                <a:latin typeface="Courier"/>
              </a:rPr>
              <a:t>).text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查找所有元素</a:t>
            </a:r>
            <a:br/>
            <a:r>
              <a:rPr>
                <a:latin typeface="Courier"/>
              </a:rPr>
              <a:t>links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soup.find_all(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link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links: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(link.get(</a:t>
            </a:r>
            <a:r>
              <a:rPr>
                <a:solidFill>
                  <a:srgbClr val="4070A0"/>
                </a:solidFill>
                <a:latin typeface="Courier"/>
              </a:rPr>
              <a:t>"href"</a:t>
            </a:r>
            <a:r>
              <a:rPr>
                <a:latin typeface="Courier"/>
              </a:rPr>
              <a:t>), link.text)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CSS 选择器</a:t>
            </a:r>
            <a:br/>
            <a:r>
              <a:rPr>
                <a:latin typeface="Courier"/>
              </a:rPr>
              <a:t>items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soup.select(</a:t>
            </a:r>
            <a:r>
              <a:rPr>
                <a:solidFill>
                  <a:srgbClr val="4070A0"/>
                </a:solidFill>
                <a:latin typeface="Courier"/>
              </a:rPr>
              <a:t>"div.content &gt; p"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工具/方法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HTTP 请求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requests.get() / .post()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发送网络请求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网页解析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BeautifulSoup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解析 HTML 提取数据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JSON 处理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json / response.json()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解析 API 返回数据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数据整理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pandas.DataFrame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结构化存储与清洗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频率控制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time.sleep()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控制请求间隔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浏览器模拟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selenium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处理动态加载页面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API 数据采集：GBIF 示例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requests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pandas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pd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1. 物种名称匹配，获取 taxonKey</a:t>
            </a:r>
            <a:br/>
            <a:r>
              <a:rPr>
                <a:latin typeface="Courier"/>
              </a:rPr>
              <a:t>match_url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"https://api.gbif.org/v1/species/match"</a:t>
            </a:r>
            <a:br/>
            <a:r>
              <a:rPr>
                <a:latin typeface="Courier"/>
              </a:rPr>
              <a:t>resp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requests.get(match_url, params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"Bindahara phocides"</a:t>
            </a:r>
            <a:r>
              <a:rPr>
                <a:latin typeface="Courier"/>
              </a:rPr>
              <a:t>})</a:t>
            </a:r>
            <a:br/>
            <a:r>
              <a:rPr>
                <a:latin typeface="Courier"/>
              </a:rPr>
              <a:t>taxon_key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resp.json()[</a:t>
            </a:r>
            <a:r>
              <a:rPr>
                <a:solidFill>
                  <a:srgbClr val="4070A0"/>
                </a:solidFill>
                <a:latin typeface="Courier"/>
              </a:rPr>
              <a:t>"usageKey"</a:t>
            </a:r>
            <a:r>
              <a:rPr>
                <a:latin typeface="Courier"/>
              </a:rPr>
              <a:t>]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2. 查询物种分布记录</a:t>
            </a:r>
            <a:br/>
            <a:r>
              <a:rPr>
                <a:latin typeface="Courier"/>
              </a:rPr>
              <a:t>occ_url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"https://api.gbif.org/v1/occurrence/search"</a:t>
            </a:r>
            <a:br/>
            <a:r>
              <a:rPr>
                <a:latin typeface="Courier"/>
              </a:rPr>
              <a:t>params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"taxonKey"</a:t>
            </a:r>
            <a:r>
              <a:rPr>
                <a:latin typeface="Courier"/>
              </a:rPr>
              <a:t>: taxon_key,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"hasCoordinate"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"limit"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300</a:t>
            </a:r>
            <a:br/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occ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requests.get(occ_url, params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params).json()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3. 提取关键字段</a:t>
            </a:r>
            <a:br/>
            <a:r>
              <a:rPr>
                <a:latin typeface="Courier"/>
              </a:rPr>
              <a:t>records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"species"</a:t>
            </a:r>
            <a:r>
              <a:rPr>
                <a:latin typeface="Courier"/>
              </a:rPr>
              <a:t>: r.get(</a:t>
            </a:r>
            <a:r>
              <a:rPr>
                <a:solidFill>
                  <a:srgbClr val="4070A0"/>
                </a:solidFill>
                <a:latin typeface="Courier"/>
              </a:rPr>
              <a:t>"species"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"lat"</a:t>
            </a:r>
            <a:r>
              <a:rPr>
                <a:latin typeface="Courier"/>
              </a:rPr>
              <a:t>: r.get(</a:t>
            </a:r>
            <a:r>
              <a:rPr>
                <a:solidFill>
                  <a:srgbClr val="4070A0"/>
                </a:solidFill>
                <a:latin typeface="Courier"/>
              </a:rPr>
              <a:t>"decimalLatitude"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"lon"</a:t>
            </a:r>
            <a:r>
              <a:rPr>
                <a:latin typeface="Courier"/>
              </a:rPr>
              <a:t>: r.get(</a:t>
            </a:r>
            <a:r>
              <a:rPr>
                <a:solidFill>
                  <a:srgbClr val="4070A0"/>
                </a:solidFill>
                <a:latin typeface="Courier"/>
              </a:rPr>
              <a:t>"decimalLongitude"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"year"</a:t>
            </a:r>
            <a:r>
              <a:rPr>
                <a:latin typeface="Courier"/>
              </a:rPr>
              <a:t>: r.get(</a:t>
            </a:r>
            <a:r>
              <a:rPr>
                <a:solidFill>
                  <a:srgbClr val="4070A0"/>
                </a:solidFill>
                <a:latin typeface="Courier"/>
              </a:rPr>
              <a:t>"year"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"country"</a:t>
            </a:r>
            <a:r>
              <a:rPr>
                <a:latin typeface="Courier"/>
              </a:rPr>
              <a:t>: r.get(</a:t>
            </a:r>
            <a:r>
              <a:rPr>
                <a:solidFill>
                  <a:srgbClr val="4070A0"/>
                </a:solidFill>
                <a:latin typeface="Courier"/>
              </a:rPr>
              <a:t>"country"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}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r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occ[</a:t>
            </a:r>
            <a:r>
              <a:rPr>
                <a:solidFill>
                  <a:srgbClr val="4070A0"/>
                </a:solidFill>
                <a:latin typeface="Courier"/>
              </a:rPr>
              <a:t>"results"</a:t>
            </a:r>
            <a:r>
              <a:rPr>
                <a:latin typeface="Courier"/>
              </a:rPr>
              <a:t>]]</a:t>
            </a:r>
            <a:br/>
            <a:br/>
            <a:r>
              <a:rPr>
                <a:latin typeface="Courier"/>
              </a:rPr>
              <a:t>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pd.DataFrame(records)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f"获取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(df)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条记录"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API 数据采集：Open-Meteo 气候数据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requests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pandas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pd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获取某地点的历史气象数据</a:t>
            </a:r>
            <a:br/>
            <a:r>
              <a:rPr>
                <a:latin typeface="Courier"/>
              </a:rPr>
              <a:t>url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"https://archive-api.open-meteo.com/v1/archive"</a:t>
            </a:r>
            <a:br/>
            <a:r>
              <a:rPr>
                <a:latin typeface="Courier"/>
              </a:rPr>
              <a:t>params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"latitude"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30.27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"longitude"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120.15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"start_date"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"2024-01-01"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"end_date"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"2024-12-31"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"daily"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"temperature_2m_mean,precipitation_sum"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"timezone"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"Asia/Shanghai"</a:t>
            </a:r>
            <a:br/>
            <a:r>
              <a:rPr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resp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requests.get(url, params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params)</a:t>
            </a:r>
            <a:br/>
            <a:r>
              <a:rPr>
                <a:latin typeface="Courier"/>
              </a:rPr>
              <a:t>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resp.json()[</a:t>
            </a:r>
            <a:r>
              <a:rPr>
                <a:solidFill>
                  <a:srgbClr val="4070A0"/>
                </a:solidFill>
                <a:latin typeface="Courier"/>
              </a:rPr>
              <a:t>"daily"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latin typeface="Courier"/>
              </a:rPr>
              <a:t>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pd.DataFrame({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"date"</a:t>
            </a:r>
            <a:r>
              <a:rPr>
                <a:latin typeface="Courier"/>
              </a:rPr>
              <a:t>: data[</a:t>
            </a:r>
            <a:r>
              <a:rPr>
                <a:solidFill>
                  <a:srgbClr val="4070A0"/>
                </a:solidFill>
                <a:latin typeface="Courier"/>
              </a:rPr>
              <a:t>"time"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"temp_mean"</a:t>
            </a:r>
            <a:r>
              <a:rPr>
                <a:latin typeface="Courier"/>
              </a:rPr>
              <a:t>: data[</a:t>
            </a:r>
            <a:r>
              <a:rPr>
                <a:solidFill>
                  <a:srgbClr val="4070A0"/>
                </a:solidFill>
                <a:latin typeface="Courier"/>
              </a:rPr>
              <a:t>"temperature_2m_mean"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"precip_sum"</a:t>
            </a:r>
            <a:r>
              <a:rPr>
                <a:latin typeface="Courier"/>
              </a:rPr>
              <a:t>: data[</a:t>
            </a:r>
            <a:r>
              <a:rPr>
                <a:solidFill>
                  <a:srgbClr val="4070A0"/>
                </a:solidFill>
                <a:latin typeface="Courier"/>
              </a:rPr>
              <a:t>"precipitation_sum"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})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(df.head())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分页处理大数据集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time</a:t>
            </a:r>
            <a:br/>
            <a:br/>
            <a:r>
              <a:rPr>
                <a:latin typeface="Courier"/>
              </a:rPr>
              <a:t>all_records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offset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limit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300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params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"taxonKey"</a:t>
            </a:r>
            <a:r>
              <a:rPr>
                <a:latin typeface="Courier"/>
              </a:rPr>
              <a:t>: taxon_key,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"hasCoordinate"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"limit"</a:t>
            </a:r>
            <a:r>
              <a:rPr>
                <a:latin typeface="Courier"/>
              </a:rPr>
              <a:t>: limit,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"offset"</a:t>
            </a:r>
            <a:r>
              <a:rPr>
                <a:latin typeface="Courier"/>
              </a:rPr>
              <a:t>: offset</a:t>
            </a:r>
            <a:br/>
            <a:r>
              <a:rPr>
                <a:latin typeface="Courier"/>
              </a:rPr>
              <a:t>    }</a:t>
            </a:r>
            <a:br/>
            <a:r>
              <a:rPr>
                <a:latin typeface="Courier"/>
              </a:rPr>
              <a:t>    resp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requests.get(occ_url, params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params)</a:t>
            </a:r>
            <a:br/>
            <a:r>
              <a:rPr>
                <a:latin typeface="Courier"/>
              </a:rPr>
              <a:t>   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resp.json()</a:t>
            </a:r>
            <a:br/>
            <a:br/>
            <a:r>
              <a:rPr>
                <a:latin typeface="Courier"/>
              </a:rPr>
              <a:t>    results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data.get(</a:t>
            </a:r>
            <a:r>
              <a:rPr>
                <a:solidFill>
                  <a:srgbClr val="4070A0"/>
                </a:solidFill>
                <a:latin typeface="Courier"/>
              </a:rPr>
              <a:t>"results"</a:t>
            </a:r>
            <a:r>
              <a:rPr>
                <a:latin typeface="Courier"/>
              </a:rPr>
              <a:t>, [])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results: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br/>
            <a:r>
              <a:rPr>
                <a:latin typeface="Courier"/>
              </a:rPr>
              <a:t>    all_records.extend(results)</a:t>
            </a:r>
            <a:br/>
            <a:r>
              <a:rPr>
                <a:latin typeface="Courier"/>
              </a:rPr>
              <a:t>    offset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limit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f"已获取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(all_records)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条记录..."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data.get(</a:t>
            </a:r>
            <a:r>
              <a:rPr>
                <a:solidFill>
                  <a:srgbClr val="4070A0"/>
                </a:solidFill>
                <a:latin typeface="Courier"/>
              </a:rPr>
              <a:t>"endOfRecords"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br/>
            <a:r>
              <a:rPr>
                <a:latin typeface="Courier"/>
              </a:rPr>
              <a:t>    time.sleep(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 </a:t>
            </a:r>
            <a:r>
              <a:rPr i="1">
                <a:solidFill>
                  <a:srgbClr val="60A0B0"/>
                </a:solidFill>
                <a:latin typeface="Courier"/>
              </a:rPr>
              <a:t># 礼貌性延迟</a:t>
            </a:r>
            <a:br/>
            <a:br/>
            <a:r>
              <a:rPr>
                <a:latin typeface="Courier"/>
              </a:rPr>
              <a:t>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pd.DataFrame(all_records)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数据保存：CSV vs JSON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json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保存为 CSV（适合表格数据）</a:t>
            </a:r>
            <a:br/>
            <a:r>
              <a:rPr>
                <a:latin typeface="Courier"/>
              </a:rPr>
              <a:t>df.to_csv(</a:t>
            </a:r>
            <a:r>
              <a:rPr>
                <a:solidFill>
                  <a:srgbClr val="4070A0"/>
                </a:solidFill>
                <a:latin typeface="Courier"/>
              </a:rPr>
              <a:t>"gbif_records.csv"</a:t>
            </a:r>
            <a:r>
              <a:rPr>
                <a:latin typeface="Courier"/>
              </a:rPr>
              <a:t>, index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, encoding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"utf-8-sig"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保存为 JSON（适合嵌套结构）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with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open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"gbif_records.json"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"w"</a:t>
            </a:r>
            <a:r>
              <a:rPr>
                <a:latin typeface="Courier"/>
              </a:rPr>
              <a:t>, encoding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"utf-8"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f:</a:t>
            </a:r>
            <a:br/>
            <a:r>
              <a:rPr>
                <a:latin typeface="Courier"/>
              </a:rPr>
              <a:t>    json.dump(all_records, f, ensure_ascii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, indent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格式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优点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缺点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CSV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通用、Excel 可打开、体积小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不支持嵌套结构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JSON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支持嵌套、保留数据类型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体积较大、不便直接浏览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采集伦理与规范</a:t>
            </a:r>
          </a:p>
          <a:p>
            <a:pPr lvl="0"/>
            <a:r>
              <a:rPr b="1"/>
              <a:t>robots.txt</a:t>
            </a:r>
            <a:r>
              <a:rPr/>
              <a:t>：访问前检查网站的 robots.txt 文件，遵守爬取规则</a:t>
            </a:r>
          </a:p>
          <a:p>
            <a:pPr lvl="0"/>
            <a:r>
              <a:rPr b="1"/>
              <a:t>请求频率</a:t>
            </a:r>
            <a:r>
              <a:rPr/>
              <a:t>：添加 </a:t>
            </a:r>
            <a:r>
              <a:rPr>
                <a:latin typeface="Courier"/>
              </a:rPr>
              <a:t>time.sleep(1)</a:t>
            </a:r>
            <a:r>
              <a:rPr/>
              <a:t> 控制请求间隔，避免对服务器造成压力</a:t>
            </a:r>
          </a:p>
          <a:p>
            <a:pPr lvl="0"/>
            <a:r>
              <a:rPr b="1"/>
              <a:t>User-Agent</a:t>
            </a:r>
            <a:r>
              <a:rPr/>
              <a:t>：设置合理的 User-Agent 标识，表明请求来源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latin typeface="Courier"/>
              </a:rPr>
              <a:t>headers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"User-Agent"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"Mozilla/5.0 (research-project; contact@example.com)"</a:t>
            </a:r>
            <a:br/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requests.get(url, headers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headers)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尊重数据提供方的使用条款，优先使用官方 API 而非直接爬取网页。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requests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pandas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pd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time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多物种 GBIF 数据批量采集</a:t>
            </a:r>
            <a:br/>
            <a:r>
              <a:rPr>
                <a:latin typeface="Courier"/>
              </a:rPr>
              <a:t>species_list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"Bindahara phocides"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"Bindahara sugriva"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"Bindahara mora"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all_data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species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species_list: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匹配物种</a:t>
            </a:r>
            <a:br/>
            <a:r>
              <a:rPr>
                <a:latin typeface="Courier"/>
              </a:rPr>
              <a:t>    match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requests.get(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"https://api.gbif.org/v1/species/match"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params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latin typeface="Courier"/>
              </a:rPr>
              <a:t>: species}</a:t>
            </a:r>
            <a:br/>
            <a:r>
              <a:rPr>
                <a:latin typeface="Courier"/>
              </a:rPr>
              <a:t>    ).json()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"usageKey"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match: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f"未找到: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species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continue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获取记录</a:t>
            </a:r>
            <a:br/>
            <a:r>
              <a:rPr>
                <a:latin typeface="Courier"/>
              </a:rPr>
              <a:t>    occ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requests.get(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"https://api.gbif.org/v1/occurrence/search"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params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"taxonKey"</a:t>
            </a:r>
            <a:r>
              <a:rPr>
                <a:latin typeface="Courier"/>
              </a:rPr>
              <a:t>: match[</a:t>
            </a:r>
            <a:r>
              <a:rPr>
                <a:solidFill>
                  <a:srgbClr val="4070A0"/>
                </a:solidFill>
                <a:latin typeface="Courier"/>
              </a:rPr>
              <a:t>"usageKey"</a:t>
            </a:r>
            <a:r>
              <a:rPr>
                <a:latin typeface="Courier"/>
              </a:rPr>
              <a:t>], </a:t>
            </a:r>
            <a:r>
              <a:rPr>
                <a:solidFill>
                  <a:srgbClr val="4070A0"/>
                </a:solidFill>
                <a:latin typeface="Courier"/>
              </a:rPr>
              <a:t>"hasCoordinate"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"limit"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    ).json()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r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occ[</a:t>
            </a:r>
            <a:r>
              <a:rPr>
                <a:solidFill>
                  <a:srgbClr val="4070A0"/>
                </a:solidFill>
                <a:latin typeface="Courier"/>
              </a:rPr>
              <a:t>"results"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    all_data.append({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4070A0"/>
                </a:solidFill>
                <a:latin typeface="Courier"/>
              </a:rPr>
              <a:t>"species"</a:t>
            </a:r>
            <a:r>
              <a:rPr>
                <a:latin typeface="Courier"/>
              </a:rPr>
              <a:t>: r.get(</a:t>
            </a:r>
            <a:r>
              <a:rPr>
                <a:solidFill>
                  <a:srgbClr val="4070A0"/>
                </a:solidFill>
                <a:latin typeface="Courier"/>
              </a:rPr>
              <a:t>"species"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4070A0"/>
                </a:solidFill>
                <a:latin typeface="Courier"/>
              </a:rPr>
              <a:t>"lat"</a:t>
            </a:r>
            <a:r>
              <a:rPr>
                <a:latin typeface="Courier"/>
              </a:rPr>
              <a:t>: r.get(</a:t>
            </a:r>
            <a:r>
              <a:rPr>
                <a:solidFill>
                  <a:srgbClr val="4070A0"/>
                </a:solidFill>
                <a:latin typeface="Courier"/>
              </a:rPr>
              <a:t>"decimalLatitude"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4070A0"/>
                </a:solidFill>
                <a:latin typeface="Courier"/>
              </a:rPr>
              <a:t>"lon"</a:t>
            </a:r>
            <a:r>
              <a:rPr>
                <a:latin typeface="Courier"/>
              </a:rPr>
              <a:t>: r.get(</a:t>
            </a:r>
            <a:r>
              <a:rPr>
                <a:solidFill>
                  <a:srgbClr val="4070A0"/>
                </a:solidFill>
                <a:latin typeface="Courier"/>
              </a:rPr>
              <a:t>"decimalLongitude"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4070A0"/>
                </a:solidFill>
                <a:latin typeface="Courier"/>
              </a:rPr>
              <a:t>"year"</a:t>
            </a:r>
            <a:r>
              <a:rPr>
                <a:latin typeface="Courier"/>
              </a:rPr>
              <a:t>: r.get(</a:t>
            </a:r>
            <a:r>
              <a:rPr>
                <a:solidFill>
                  <a:srgbClr val="4070A0"/>
                </a:solidFill>
                <a:latin typeface="Courier"/>
              </a:rPr>
              <a:t>"year"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})</a:t>
            </a:r>
            <a:br/>
            <a:br/>
            <a:r>
              <a:rPr>
                <a:latin typeface="Courier"/>
              </a:rPr>
              <a:t>    time.sleep(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pd.DataFrame(all_data)</a:t>
            </a:r>
            <a:br/>
            <a:r>
              <a:rPr>
                <a:latin typeface="Courier"/>
              </a:rPr>
              <a:t>df.to_csv(</a:t>
            </a:r>
            <a:r>
              <a:rPr>
                <a:solidFill>
                  <a:srgbClr val="4070A0"/>
                </a:solidFill>
                <a:latin typeface="Courier"/>
              </a:rPr>
              <a:t>"multi_species_gbif.csv"</a:t>
            </a:r>
            <a:r>
              <a:rPr>
                <a:latin typeface="Courier"/>
              </a:rPr>
              <a:t>, index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f"共采集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(df)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条记录，涵盖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df[</a:t>
            </a:r>
            <a:r>
              <a:rPr>
                <a:solidFill>
                  <a:srgbClr val="4070A0"/>
                </a:solidFill>
                <a:latin typeface="Courier"/>
              </a:rPr>
              <a:t>'species'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nunique()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个物种"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要点一</a:t>
            </a:r>
            <a:r>
              <a:rPr/>
              <a:t>：优先使用官方 API 获取数据，API 返回结构化 JSON 比解析 HTML 更稳定可靠</a:t>
            </a:r>
          </a:p>
          <a:p>
            <a:pPr lvl="0"/>
            <a:r>
              <a:rPr b="1"/>
              <a:t>要点二</a:t>
            </a:r>
            <a:r>
              <a:rPr/>
              <a:t>：始终添加请求间隔（time.sleep），大批量采集时使用分页机制逐步获取</a:t>
            </a:r>
          </a:p>
          <a:p>
            <a:pPr lvl="0"/>
            <a:r>
              <a:rPr b="1"/>
              <a:t>要点三</a:t>
            </a:r>
            <a:r>
              <a:rPr/>
              <a:t>：采集完成后立即保存原始数据，后续清洗在副本上进行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动手实践是学习本课程的关键，请在电脑前跟随课程一起操作。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</a:t>
            </a:r>
            <a:r>
              <a:rPr/>
              <a:t>：requests 和 selenium 有什么区别，什么时候用 selenium？</a:t>
            </a:r>
          </a:p>
          <a:p>
            <a:pPr lvl="0" indent="0" marL="0">
              <a:buNone/>
            </a:pPr>
            <a:r>
              <a:rPr b="1"/>
              <a:t>A1</a:t>
            </a:r>
            <a:r>
              <a:rPr/>
              <a:t>：requests 只能获取静态 HTML，对于 JavaScript 动态加载的页面内容无法获取。当页面内容需要浏览器渲染后才能显示时（如滚动加载、点击展开），需要使用 selenium 模拟浏览器操作。</a:t>
            </a:r>
          </a:p>
          <a:p>
            <a:pPr lvl="0" indent="0" marL="0">
              <a:buNone/>
            </a:pPr>
            <a:r>
              <a:rPr b="1"/>
              <a:t>Q2</a:t>
            </a:r>
            <a:r>
              <a:rPr/>
              <a:t>：被网站封 IP 了怎么办？</a:t>
            </a:r>
          </a:p>
          <a:p>
            <a:pPr lvl="0" indent="0" marL="0">
              <a:buNone/>
            </a:pPr>
            <a:r>
              <a:rPr b="1"/>
              <a:t>A2</a:t>
            </a:r>
            <a:r>
              <a:rPr/>
              <a:t>：首先反思是否请求过于频繁或违反了 robots.txt 规则。降低请求频率、设置合理的 User-Agent 是基本礼仪。优先使用官方 API 可以避免大多数封禁问题。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/>
              <a:t>Python 的 requests + BeautifulSoup + pandas 构成了数据采集的核心工具链，适合从网页和 API 获取数据</a:t>
            </a:r>
          </a:p>
          <a:p>
            <a:pPr lvl="0" indent="-342900" marL="342900">
              <a:buAutoNum type="arabicPeriod"/>
            </a:pPr>
            <a:r>
              <a:rPr/>
              <a:t>API 数据采集（如 GBIF、Open-Meteo）比网页爬取更稳定、更规范，生态学研究应优先使用</a:t>
            </a:r>
          </a:p>
          <a:p>
            <a:pPr lvl="0" indent="-342900" marL="342900">
              <a:buAutoNum type="arabicPeriod"/>
            </a:pPr>
            <a:r>
              <a:rPr/>
              <a:t>数据采集必须遵守伦理规范：检查 robots.txt、控制请求频率、设置 User-Agent、尊重使用条款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课后任务</a:t>
            </a:r>
          </a:p>
          <a:p>
            <a:pPr lvl="0"/>
            <a:r>
              <a:rPr/>
              <a:t>使用 GBIF API 采集一个你感兴趣的物种的分布数据，保存为 CSV 文件</a:t>
            </a:r>
          </a:p>
          <a:p>
            <a:pPr lvl="0"/>
            <a:r>
              <a:rPr/>
              <a:t>使用 Open-Meteo API 获取你所在城市过去一年的气温和降水数据</a:t>
            </a:r>
          </a:p>
          <a:p>
            <a:pPr lvl="0"/>
            <a:r>
              <a:rPr b="1"/>
              <a:t>选做</a:t>
            </a:r>
            <a:r>
              <a:rPr/>
              <a:t>：编写一个函数，接受物种名称列表作为输入，自动批量采集 GBIF 数据并合并为一个 DataFrame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延伸阅读</a:t>
            </a:r>
          </a:p>
          <a:p>
            <a:pPr lvl="0"/>
            <a:r>
              <a:rPr/>
              <a:t>requests 官方文档：</a:t>
            </a:r>
            <a:r>
              <a:rPr>
                <a:hlinkClick r:id="rId2"/>
              </a:rPr>
              <a:t>https://docs.python-requests.org/</a:t>
            </a:r>
          </a:p>
          <a:p>
            <a:pPr lvl="0"/>
            <a:r>
              <a:rPr/>
              <a:t>BeautifulSoup 官方文档：</a:t>
            </a:r>
            <a:r>
              <a:rPr>
                <a:hlinkClick r:id="rId3"/>
              </a:rPr>
              <a:t>https://www.crummy.com/software/BeautifulSoup/bs4/doc/</a:t>
            </a:r>
          </a:p>
          <a:p>
            <a:pPr lvl="0"/>
            <a:r>
              <a:rPr/>
              <a:t>GBIF API 文档：</a:t>
            </a:r>
            <a:r>
              <a:rPr>
                <a:hlinkClick r:id="rId4"/>
              </a:rPr>
              <a:t>https://www.gbif.org/developer/summary</a:t>
            </a:r>
          </a:p>
          <a:p>
            <a:pPr lvl="0"/>
            <a:r>
              <a:rPr/>
              <a:t>Open-Meteo API 文档：</a:t>
            </a:r>
            <a:r>
              <a:rPr>
                <a:hlinkClick r:id="rId5"/>
              </a:rPr>
              <a:t>https://open-meteo.com/en/docs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数据采集</dc:title>
  <dc:creator>Huaqing Liu</dc:creator>
  <cp:keywords/>
  <dcterms:created xsi:type="dcterms:W3CDTF">2026-03-31T08:55:29Z</dcterms:created>
  <dcterms:modified xsi:type="dcterms:W3CDTF">2026-03-31T08:55:29Z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