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数据清洗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0301 数据清洗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教材章节：0301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数据清洗的完整工作流及各步骤的逻辑顺序</a:t>
            </a:r>
          </a:p>
          <a:p>
            <a:pPr lvl="0"/>
            <a:r>
              <a:rPr/>
              <a:t>掌握 重复值检测与去重、异常值识别与处理的方法</a:t>
            </a:r>
          </a:p>
          <a:p>
            <a:pPr lvl="0"/>
            <a:r>
              <a:rPr/>
              <a:t>了解 缺失值可视化诊断及多种填充策略的适用场景</a:t>
            </a:r>
          </a:p>
          <a:p>
            <a:pPr lvl="0"/>
            <a:r>
              <a:rPr/>
              <a:t>能够应用 将清洗流程封装为可重复执行的 R 函数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：数据清洗工作流总览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：重复值检测与去重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：异常值检测与处理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：缺失值诊断与填充</a:t>
            </a:r>
          </a:p>
          <a:p>
            <a:pPr lvl="0" indent="-342900" marL="342900">
              <a:buAutoNum type="arabicPeriod"/>
            </a:pPr>
            <a:r>
              <a:rPr b="1"/>
              <a:t>第五节</a:t>
            </a:r>
            <a:r>
              <a:rPr/>
              <a:t>：格式统一与完整清洗管道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 indent="0" marL="1270000">
              <a:buNone/>
            </a:pPr>
            <a:r>
              <a:rPr sz="2000" b="1"/>
              <a:t>概念一：数据清洗工作流</a:t>
            </a:r>
          </a:p>
          <a:p>
            <a:pPr lvl="0" indent="0" marL="1270000">
              <a:buNone/>
            </a:pPr>
            <a:r>
              <a:rPr sz="2000"/>
              <a:t>理解数据 → 去重 → 处理异常值 → 处理缺失值 → 统一格式 → 验证。注意顺序：</a:t>
            </a:r>
            <a:r>
              <a:rPr sz="2000" b="1"/>
              <a:t>先处理异常值，再处理缺失值</a:t>
            </a:r>
            <a:r>
              <a:rPr sz="2000"/>
              <a:t>，因为异常值会污染插补结果。</a:t>
            </a:r>
          </a:p>
          <a:p>
            <a:pPr lvl="0" indent="0" marL="1270000">
              <a:buNone/>
            </a:pPr>
            <a:r>
              <a:rPr sz="2000" b="1"/>
              <a:t>概念二：异常值检测</a:t>
            </a:r>
          </a:p>
          <a:p>
            <a:pPr lvl="0" indent="0" marL="1270000">
              <a:buNone/>
            </a:pPr>
            <a:r>
              <a:rPr sz="2000"/>
              <a:t>基于统计方法（箱线图 IQR 规则）与领域知识（如 SOC 0–80 g/kg、pH 3.5–9.5、TN 0–10 g/kg）双重判断，标记而非直接删除。</a:t>
            </a:r>
          </a:p>
          <a:p>
            <a:pPr lvl="0" indent="0" marL="1270000">
              <a:buNone/>
            </a:pPr>
            <a:r>
              <a:rPr sz="2000" b="1"/>
              <a:t>概念三：缺失值机制</a:t>
            </a:r>
          </a:p>
          <a:p>
            <a:pPr lvl="0" indent="0" marL="1270000">
              <a:buNone/>
            </a:pPr>
            <a:r>
              <a:rPr sz="2000"/>
              <a:t>缺失并非随机发生。完全随机缺失（MCAR）、随机缺失（MAR）与非随机缺失（MNAR）决定了应采用删除、均值填充还是分组填充等不同策略。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去重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duplicated()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distinct()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检测和移除重复行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异常值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boxplot()</a:t>
                      </a:r>
                      <a:r>
                        <a:rPr/>
                        <a:t> / IQR 规则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统计异常值识别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异常值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领域知识阈值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基于专业判断的范围检查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naniar::vis_miss()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缺失值热力图可视化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mean()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median()</a:t>
                      </a:r>
                      <a:r>
                        <a:rPr/>
                        <a:t> / 分组填充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缺失值插补策略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格式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lubridate::parse_date_time()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日期格式统一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代码示例：重复值检测与去重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(tidyverse)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以 Li et al. (2017) 喀斯特土壤数据为例</a:t>
            </a:r>
            <a:br/>
            <a:r>
              <a:rPr>
                <a:latin typeface="Courier"/>
              </a:rPr>
              <a:t>soil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read.csv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"karst_soil.csv"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检测重复行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duplicated</a:t>
            </a:r>
            <a:r>
              <a:rPr>
                <a:latin typeface="Courier"/>
              </a:rPr>
              <a:t>(soil))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查看重复记录</a:t>
            </a:r>
            <a:br/>
            <a:r>
              <a:rPr>
                <a:latin typeface="Courier"/>
              </a:rPr>
              <a:t>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duplicated</a:t>
            </a:r>
            <a:r>
              <a:rPr>
                <a:latin typeface="Courier"/>
              </a:rPr>
              <a:t>(soil)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duplicated</a:t>
            </a:r>
            <a:r>
              <a:rPr>
                <a:latin typeface="Courier"/>
              </a:rPr>
              <a:t>(soil, </a:t>
            </a:r>
            <a:r>
              <a:rPr>
                <a:solidFill>
                  <a:srgbClr val="7D9029"/>
                </a:solidFill>
                <a:latin typeface="Courier"/>
              </a:rPr>
              <a:t>fromLast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去重：保留首次出现的记录</a:t>
            </a:r>
            <a:br/>
            <a:r>
              <a:rPr>
                <a:latin typeface="Courier"/>
              </a:rPr>
              <a:t>soil_unique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distinct</a:t>
            </a:r>
            <a:r>
              <a:rPr>
                <a:latin typeface="Courier"/>
              </a:rPr>
              <a:t>()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"去重前:"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(soil), </a:t>
            </a:r>
            <a:r>
              <a:rPr>
                <a:solidFill>
                  <a:srgbClr val="4070A0"/>
                </a:solidFill>
                <a:latin typeface="Courier"/>
              </a:rPr>
              <a:t>"行; 去重后:"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(soil_unique), </a:t>
            </a:r>
            <a:r>
              <a:rPr>
                <a:solidFill>
                  <a:srgbClr val="4070A0"/>
                </a:solidFill>
                <a:latin typeface="Courier"/>
              </a:rPr>
              <a:t>"行\n"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代码示例：异常值检测（先于缺失值处理）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方法一：箱线图 + IQR 规则</a:t>
            </a:r>
            <a:br/>
            <a:r>
              <a:rPr>
                <a:latin typeface="Courier"/>
              </a:rPr>
              <a:t>detect_outliers_iqr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(x) {</a:t>
            </a:r>
            <a:br/>
            <a:r>
              <a:rPr>
                <a:latin typeface="Courier"/>
              </a:rPr>
              <a:t>  q1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quantile</a:t>
            </a:r>
            <a:r>
              <a:rPr>
                <a:latin typeface="Courier"/>
              </a:rPr>
              <a:t>(x, 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q3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quantile</a:t>
            </a:r>
            <a:r>
              <a:rPr>
                <a:latin typeface="Courier"/>
              </a:rPr>
              <a:t>(x, </a:t>
            </a:r>
            <a:r>
              <a:rPr>
                <a:solidFill>
                  <a:srgbClr val="40A070"/>
                </a:solidFill>
                <a:latin typeface="Courier"/>
              </a:rPr>
              <a:t>0.75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iqr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q3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q1</a:t>
            </a:r>
            <a:br/>
            <a:r>
              <a:rPr>
                <a:latin typeface="Courier"/>
              </a:rPr>
              <a:t>  x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(q1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iqr)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(q3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iqr)</a:t>
            </a:r>
            <a:br/>
            <a:r>
              <a:rPr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方法二：领域知识阈值（喀斯特土壤）</a:t>
            </a:r>
            <a:br/>
            <a:r>
              <a:rPr>
                <a:latin typeface="Courier"/>
              </a:rPr>
              <a:t>domain_rules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SOC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80</a:t>
            </a:r>
            <a:r>
              <a:rPr>
                <a:latin typeface="Courier"/>
              </a:rPr>
              <a:t>),    </a:t>
            </a:r>
            <a:r>
              <a:rPr i="1">
                <a:solidFill>
                  <a:srgbClr val="60A0B0"/>
                </a:solidFill>
                <a:latin typeface="Courier"/>
              </a:rPr>
              <a:t># g/kg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pH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3.5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9.5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TN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g/kg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标记异常值（先标记，后决策）</a:t>
            </a:r>
            <a:br/>
            <a:r>
              <a:rPr>
                <a:latin typeface="Courier"/>
              </a:rPr>
              <a:t>soil_flagged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soil_unique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SOC_outlier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detect_outliers_iqr</a:t>
            </a:r>
            <a:r>
              <a:rPr>
                <a:latin typeface="Courier"/>
              </a:rPr>
              <a:t>(SOC)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SOC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SOC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pH_outlier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detect_outliers_iqr</a:t>
            </a:r>
            <a:r>
              <a:rPr>
                <a:latin typeface="Courier"/>
              </a:rPr>
              <a:t>(pH) 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pH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pH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9.5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TN_outlier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detect_outliers_iqr</a:t>
            </a:r>
            <a:r>
              <a:rPr>
                <a:latin typeface="Courier"/>
              </a:rPr>
              <a:t>(TN) 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TN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TN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可视化异常值</a:t>
            </a:r>
            <a:br/>
            <a:r>
              <a:rPr>
                <a:solidFill>
                  <a:srgbClr val="06287E"/>
                </a:solidFill>
                <a:latin typeface="Courier"/>
              </a:rPr>
              <a:t>boxplot</a:t>
            </a:r>
            <a:r>
              <a:rPr>
                <a:latin typeface="Courier"/>
              </a:rPr>
              <a:t>(soil_unique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SOC, </a:t>
            </a:r>
            <a:r>
              <a:rPr>
                <a:solidFill>
                  <a:srgbClr val="7D9029"/>
                </a:solidFill>
                <a:latin typeface="Courier"/>
              </a:rPr>
              <a:t>main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"SOC 分布"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ylab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"g/kg"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代码示例：缺失值诊断与填充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(naniar)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缺失值可视化：热力图</a:t>
            </a:r>
            <a:br/>
            <a:r>
              <a:rPr>
                <a:solidFill>
                  <a:srgbClr val="06287E"/>
                </a:solidFill>
                <a:latin typeface="Courier"/>
              </a:rPr>
              <a:t>vis_miss</a:t>
            </a:r>
            <a:r>
              <a:rPr>
                <a:latin typeface="Courier"/>
              </a:rPr>
              <a:t>(soil_flagged)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缺失比例汇总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miss_var_summary</a:t>
            </a:r>
            <a:r>
              <a:rPr>
                <a:latin typeface="Courier"/>
              </a:rPr>
              <a:t>(soil_flagged)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策略一：删除缺失行（缺失比例 &lt; 5% 时可用）</a:t>
            </a:r>
            <a:br/>
            <a:r>
              <a:rPr>
                <a:latin typeface="Courier"/>
              </a:rPr>
              <a:t>soil_complete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soil_flagged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drop_na</a:t>
            </a:r>
            <a:r>
              <a:rPr>
                <a:latin typeface="Courier"/>
              </a:rPr>
              <a:t>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策略二：均值/中位数填充</a:t>
            </a:r>
            <a:br/>
            <a:r>
              <a:rPr>
                <a:latin typeface="Courier"/>
              </a:rPr>
              <a:t>soil_filled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soil_flagged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SOC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(SOC), </a:t>
            </a:r>
            <a:r>
              <a:rPr>
                <a:solidFill>
                  <a:srgbClr val="06287E"/>
                </a:solidFill>
                <a:latin typeface="Courier"/>
              </a:rPr>
              <a:t>median</a:t>
            </a:r>
            <a:r>
              <a:rPr>
                <a:latin typeface="Courier"/>
              </a:rPr>
              <a:t>(SOC,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 SOC))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策略三：分组填充（按土地利用类型）</a:t>
            </a:r>
            <a:br/>
            <a:r>
              <a:rPr>
                <a:latin typeface="Courier"/>
              </a:rPr>
              <a:t>soil_group_filled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soil_flagged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(land_use)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SOC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(SOC), </a:t>
            </a:r>
            <a:r>
              <a:rPr>
                <a:solidFill>
                  <a:srgbClr val="06287E"/>
                </a:solidFill>
                <a:latin typeface="Courier"/>
              </a:rPr>
              <a:t>median</a:t>
            </a:r>
            <a:r>
              <a:rPr>
                <a:latin typeface="Courier"/>
              </a:rPr>
              <a:t>(SOC,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 SOC))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ungroup</a:t>
            </a:r>
            <a:r>
              <a:rPr>
                <a:latin typeface="Courier"/>
              </a:rPr>
              <a:t>()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代码示例：格式统一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(lubridate)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日期格式统一：处理多种格式混合输入</a:t>
            </a:r>
            <a:br/>
            <a:r>
              <a:rPr>
                <a:latin typeface="Courier"/>
              </a:rPr>
              <a:t>soil_clean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soil_group_filled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统一日期格式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sample_date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parse_date_time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sample_date,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orders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"ymd"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"dmy"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"mdy"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"Y-m-d"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"d/m/Y"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),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因子标准化：统一分类变量的标签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land_use =</a:t>
            </a:r>
            <a:r>
              <a:rPr>
                <a:latin typeface="Courier"/>
              </a:rPr>
              <a:t> land_use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str_trim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str_to_lower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recode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"forest"</a:t>
            </a:r>
            <a:r>
              <a:rPr>
                <a:latin typeface="Courier"/>
              </a:rPr>
              <a:t>   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"林地"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"farmland"</a:t>
            </a:r>
            <a:r>
              <a:rPr>
                <a:latin typeface="Courier"/>
              </a:rPr>
              <a:t> 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"耕地"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"grassland"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"草地"</a:t>
            </a:r>
            <a:br/>
            <a:r>
              <a:rPr>
                <a:latin typeface="Courier"/>
              </a:rPr>
              <a:t>      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代码示例：完整清洗管道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latin typeface="Courier"/>
              </a:rPr>
              <a:t>clean_soil_data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(raw_data) {</a:t>
            </a:r>
            <a:br/>
            <a:r>
              <a:rPr>
                <a:latin typeface="Courier"/>
              </a:rPr>
              <a:t>  raw_data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Step 1: 去重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distinct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Step 2: 标记异常值（先于缺失值处理）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SOC_outlier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detect_outliers_iqr</a:t>
            </a:r>
            <a:r>
              <a:rPr>
                <a:latin typeface="Courier"/>
              </a:rPr>
              <a:t>(SOC)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SOC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SOC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pH_outlier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detect_outliers_iqr</a:t>
            </a:r>
            <a:r>
              <a:rPr>
                <a:latin typeface="Courier"/>
              </a:rPr>
              <a:t>(pH) 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pH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pH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9.5</a:t>
            </a:r>
            <a:br/>
            <a:r>
              <a:rPr>
                <a:latin typeface="Courier"/>
              </a:rPr>
              <a:t>    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Step 3: 将异常值设为 NA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SOC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(SOC_outlier, </a:t>
            </a:r>
            <a:r>
              <a:rPr>
                <a:solidFill>
                  <a:srgbClr val="880000"/>
                </a:solidFill>
                <a:latin typeface="Courier"/>
              </a:rPr>
              <a:t>NA_real_</a:t>
            </a:r>
            <a:r>
              <a:rPr>
                <a:latin typeface="Courier"/>
              </a:rPr>
              <a:t>, SOC),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pH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(pH_outlier,  </a:t>
            </a:r>
            <a:r>
              <a:rPr>
                <a:solidFill>
                  <a:srgbClr val="880000"/>
                </a:solidFill>
                <a:latin typeface="Courier"/>
              </a:rPr>
              <a:t>NA_real_</a:t>
            </a:r>
            <a:r>
              <a:rPr>
                <a:latin typeface="Courier"/>
              </a:rPr>
              <a:t>, pH)</a:t>
            </a:r>
            <a:br/>
            <a:r>
              <a:rPr>
                <a:latin typeface="Courier"/>
              </a:rPr>
              <a:t>    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Step 4: 分组填充缺失值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(land_use)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SOC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(SOC), </a:t>
            </a:r>
            <a:r>
              <a:rPr>
                <a:solidFill>
                  <a:srgbClr val="06287E"/>
                </a:solidFill>
                <a:latin typeface="Courier"/>
              </a:rPr>
              <a:t>median</a:t>
            </a:r>
            <a:r>
              <a:rPr>
                <a:latin typeface="Courier"/>
              </a:rPr>
              <a:t>(SOC,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 SOC),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pH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(pH),  </a:t>
            </a:r>
            <a:r>
              <a:rPr>
                <a:solidFill>
                  <a:srgbClr val="06287E"/>
                </a:solidFill>
                <a:latin typeface="Courier"/>
              </a:rPr>
              <a:t>median</a:t>
            </a:r>
            <a:r>
              <a:rPr>
                <a:latin typeface="Courier"/>
              </a:rPr>
              <a:t>(pH, 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 pH)</a:t>
            </a:r>
            <a:br/>
            <a:r>
              <a:rPr>
                <a:latin typeface="Courier"/>
              </a:rPr>
              <a:t>    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ungroup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Step 5: 统一日期格式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sample_date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parse_date_time</a:t>
            </a:r>
            <a:r>
              <a:rPr>
                <a:latin typeface="Courier"/>
              </a:rPr>
              <a:t>(sample_date, </a:t>
            </a:r>
            <a:r>
              <a:rPr>
                <a:solidFill>
                  <a:srgbClr val="7D9029"/>
                </a:solidFill>
                <a:latin typeface="Courier"/>
              </a:rPr>
              <a:t>orders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"ymd"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"dmy"</a:t>
            </a:r>
            <a:r>
              <a:rPr>
                <a:latin typeface="Courier"/>
              </a:rPr>
              <a:t>)))</a:t>
            </a:r>
            <a:br/>
            <a:r>
              <a:rPr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soil_cleaned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clean_soil_data</a:t>
            </a:r>
            <a:r>
              <a:rPr>
                <a:latin typeface="Courier"/>
              </a:rPr>
              <a:t>(soil)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代码示例：清洗前后对比报告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清洗前后对比</a:t>
            </a:r>
            <a:br/>
            <a:r>
              <a:rPr>
                <a:latin typeface="Courier"/>
              </a:rPr>
              <a:t>compare_report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(before, after) 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"=== 数据清洗报告 ===\n"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"行数变化:"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(before), </a:t>
            </a:r>
            <a:r>
              <a:rPr>
                <a:solidFill>
                  <a:srgbClr val="4070A0"/>
                </a:solidFill>
                <a:latin typeface="Courier"/>
              </a:rPr>
              <a:t>"-&gt;"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(after),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"重复行移除:"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(before)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(after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distinct</a:t>
            </a:r>
            <a:r>
              <a:rPr>
                <a:latin typeface="Courier"/>
              </a:rPr>
              <a:t>()),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"\n--- 缺失值变化 ---\n"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"清洗前缺失:"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(before)),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"清洗后缺失:"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(after)),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"\n--- 数值摘要对比 (SOC) ---\n"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"清洗前: mean ="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(before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4070A0"/>
                </a:solidFill>
                <a:latin typeface="Courier"/>
              </a:rPr>
              <a:t>", sd ="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sd</a:t>
            </a:r>
            <a:r>
              <a:rPr>
                <a:latin typeface="Courier"/>
              </a:rPr>
              <a:t>(before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"清洗后: mean ="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(after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4070A0"/>
                </a:solidFill>
                <a:latin typeface="Courier"/>
              </a:rPr>
              <a:t>", sd ="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sd</a:t>
            </a:r>
            <a:r>
              <a:rPr>
                <a:latin typeface="Courier"/>
              </a:rPr>
              <a:t>(after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}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compare_report</a:t>
            </a:r>
            <a:r>
              <a:rPr>
                <a:latin typeface="Courier"/>
              </a:rPr>
              <a:t>(soil, soil_cleaned)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：顺序至关重要——先去重、再处理异常值、最后处理缺失值。异常值会污染均值和中位数，导致插补结果失真</a:t>
            </a:r>
          </a:p>
          <a:p>
            <a:pPr lvl="0"/>
            <a:r>
              <a:rPr b="1"/>
              <a:t>要点二</a:t>
            </a:r>
            <a:r>
              <a:rPr/>
              <a:t>：先标记（flag），后决策（treat）。为异常值和缺失值创建标记列，保留原始信息，方便回溯和敏感性分析</a:t>
            </a:r>
          </a:p>
          <a:p>
            <a:pPr lvl="0"/>
            <a:r>
              <a:rPr b="1"/>
              <a:t>要点三</a:t>
            </a:r>
            <a:r>
              <a:rPr/>
              <a:t>：将完整清洗流程封装为函数，确保对不同批次数据应用一致的处理逻辑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动手实践是学习本课程的关键，请在电脑前跟随课程一起操作。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：为什么要先处理异常值，再处理缺失值？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：异常值会扭曲均值和中位数等统计量。如果先做缺失值填充，填充值会被异常值污染，导致插补结果不准确。先将异常值标记或替换为 NA，再统一处理所有缺失值，才能获得可靠的填充结果。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：检测到异常值后应该直接删除吗？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：不应立即删除。正确做法是先标记（添加 flag 列），然后结合领域知识判断：是测量错误（应删除或替换）、还是真实极端值（应保留）。在论文中需说明异常值处理的依据。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数据清洗的标准流程为：理解 → 去重 → 异常值 → 缺失值 → 格式统一 → 验证，顺序不可颠倒</a:t>
            </a:r>
          </a:p>
          <a:p>
            <a:pPr lvl="0" indent="-342900" marL="342900">
              <a:buAutoNum type="arabicPeriod"/>
            </a:pPr>
            <a:r>
              <a:rPr/>
              <a:t>异常值检测需结合统计方法（IQR 规则）和领域知识（合理取值范围），采用”先标记后决策”策略</a:t>
            </a:r>
          </a:p>
          <a:p>
            <a:pPr lvl="0" indent="-342900" marL="342900">
              <a:buAutoNum type="arabicPeriod"/>
            </a:pPr>
            <a:r>
              <a:rPr/>
              <a:t>缺失值处理应根据缺失比例和机制选择策略，分组填充通常优于全局填充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用 </a:t>
            </a:r>
            <a:r>
              <a:rPr>
                <a:latin typeface="Courier"/>
              </a:rPr>
              <a:t>duplicated()</a:t>
            </a:r>
            <a:r>
              <a:rPr/>
              <a:t> 和 </a:t>
            </a:r>
            <a:r>
              <a:rPr>
                <a:latin typeface="Courier"/>
              </a:rPr>
              <a:t>distinct()</a:t>
            </a:r>
            <a:r>
              <a:rPr/>
              <a:t> 检查你的数据集中是否存在重复记录</a:t>
            </a:r>
          </a:p>
          <a:p>
            <a:pPr lvl="0"/>
            <a:r>
              <a:rPr/>
              <a:t>对至少两个数值变量执行 IQR 异常值检测，并用领域知识验证结果</a:t>
            </a:r>
          </a:p>
          <a:p>
            <a:pPr lvl="0"/>
            <a:r>
              <a:rPr/>
              <a:t>使用 </a:t>
            </a:r>
            <a:r>
              <a:rPr>
                <a:latin typeface="Courier"/>
              </a:rPr>
              <a:t>naniar::vis_miss()</a:t>
            </a:r>
            <a:r>
              <a:rPr/>
              <a:t> 可视化你的数据缺失模式</a:t>
            </a:r>
          </a:p>
          <a:p>
            <a:pPr lvl="0"/>
            <a:r>
              <a:rPr b="1"/>
              <a:t>选做</a:t>
            </a:r>
            <a:r>
              <a:rPr/>
              <a:t>：将清洗流程封装为函数，生成清洗前后对比报告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Li et al. 2017 - 喀斯特地区土壤调查数据采集与处理</a:t>
            </a:r>
          </a:p>
          <a:p>
            <a:pPr lvl="0"/>
            <a:r>
              <a:rPr/>
              <a:t>Wickham &amp; Grolemund, R for Data Science - 数据整理与清洗章节</a:t>
            </a:r>
          </a:p>
          <a:p>
            <a:pPr lvl="0"/>
            <a:r>
              <a:rPr/>
              <a:t>naniar 包文档 - 缺失值可视化与分析工具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数据清洗</dc:title>
  <dc:creator>Huaqing Liu</dc:creator>
  <cp:keywords/>
  <dcterms:created xsi:type="dcterms:W3CDTF">2026-03-31T08:55:31Z</dcterms:created>
  <dcterms:modified xsi:type="dcterms:W3CDTF">2026-03-31T08:55:31Z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