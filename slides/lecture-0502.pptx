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776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fld id="{241EB5C9-1307-BA42-ABA2-0BC069CD8E7F}" type="datetimeFigureOut">
              <a:rPr lang="en-US" smtClean="0"/>
              <a:pPr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探索性数据分析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Huaqing Liu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0502 探索性数据分析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教材章节：0502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本章学习目标</a:t>
            </a:r>
          </a:p>
          <a:p>
            <a:pPr lvl="0"/>
            <a:r>
              <a:rPr/>
              <a:t>理解 探索性数据分析（EDA）的目标与八步工作流</a:t>
            </a:r>
          </a:p>
          <a:p>
            <a:pPr lvl="0"/>
            <a:r>
              <a:rPr/>
              <a:t>掌握 缺失值诊断、异常值检测、描述性统计的核心方法</a:t>
            </a:r>
          </a:p>
          <a:p>
            <a:pPr lvl="0"/>
            <a:r>
              <a:rPr/>
              <a:t>了解 分布检验（Shapiro-Wilk）、相关分析（corrplot）与分组比较的标准流程</a:t>
            </a:r>
          </a:p>
          <a:p>
            <a:pPr lvl="0"/>
            <a:r>
              <a:rPr/>
              <a:t>能够应用 EDA 报告模板系统总结数据探索结果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内容概览</a:t>
            </a:r>
          </a:p>
          <a:p>
            <a:pPr lvl="0" indent="-342900" marL="342900">
              <a:buAutoNum type="arabicPeriod"/>
            </a:pPr>
            <a:r>
              <a:rPr b="1"/>
              <a:t>第一节</a:t>
            </a:r>
            <a:r>
              <a:rPr/>
              <a:t>：EDA 八步工作流</a:t>
            </a:r>
          </a:p>
          <a:p>
            <a:pPr lvl="0" indent="-342900" marL="342900">
              <a:buAutoNum type="arabicPeriod"/>
            </a:pPr>
            <a:r>
              <a:rPr b="1"/>
              <a:t>第二节</a:t>
            </a:r>
            <a:r>
              <a:rPr/>
              <a:t>：缺失值与异常值分析</a:t>
            </a:r>
          </a:p>
          <a:p>
            <a:pPr lvl="0" indent="-342900" marL="342900">
              <a:buAutoNum type="arabicPeriod"/>
            </a:pPr>
            <a:r>
              <a:rPr b="1"/>
              <a:t>第三节</a:t>
            </a:r>
            <a:r>
              <a:rPr/>
              <a:t>：描述性统计与分布检验</a:t>
            </a:r>
          </a:p>
          <a:p>
            <a:pPr lvl="0" indent="-342900" marL="342900">
              <a:buAutoNum type="arabicPeriod"/>
            </a:pPr>
            <a:r>
              <a:rPr b="1"/>
              <a:t>第四节</a:t>
            </a:r>
            <a:r>
              <a:rPr/>
              <a:t>：相关分析与分组比较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核心概念</a:t>
            </a:r>
          </a:p>
          <a:p>
            <a:pPr lvl="0"/>
            <a:r>
              <a:rPr b="1"/>
              <a:t>概念一</a:t>
            </a:r>
            <a:r>
              <a:rPr/>
              <a:t>：探索性数据分析（EDA）：在正式建模前，通过统计摘要和可视化全面了解数据特征，目标是发现模式而非得出结论</a:t>
            </a:r>
          </a:p>
          <a:p>
            <a:pPr lvl="0"/>
            <a:r>
              <a:rPr b="1"/>
              <a:t>概念二</a:t>
            </a:r>
            <a:r>
              <a:rPr/>
              <a:t>：变异系数（CV）：标准差与均值之比（CV = sd/mean × 100%），用于比较不同量纲变量的离散程度</a:t>
            </a:r>
          </a:p>
          <a:p>
            <a:pPr lvl="0"/>
            <a:r>
              <a:rPr b="1"/>
              <a:t>概念三</a:t>
            </a:r>
            <a:r>
              <a:rPr/>
              <a:t>：正态性检验：通过 Shapiro-Wilk 检验和 Q-Q 图判断数据是否符合正态分布，决定后续使用参数或非参数方法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EDA 是数据分析的”侦察阶段”——先了解数据长什么样，再决定怎么分析。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EDA 八步工作流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步骤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内容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关键函数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1. 数据概览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维度、类型、前几行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dim()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str()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head()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2. 缺失值分析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缺失计数、模式可视化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naniar::vis_miss()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3. 异常值检测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箱线图、IQR 规则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boxplot()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geom_boxplot()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4. 描述性统计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均值、标准差、CV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summary()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summarise()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5. 分布检验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直方图、Q-Q 图、Shapiro-Wilk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shapiro.test()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qqnorm()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6. 相关分析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相关矩阵、散点图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cor()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corrplot()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7. 分组比较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按类别变量分组可视化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geom_boxplot()</a:t>
                      </a:r>
                      <a:r>
                        <a:rPr/>
                        <a:t> + </a:t>
                      </a:r>
                      <a:r>
                        <a:rPr>
                          <a:latin typeface="Courier"/>
                        </a:rPr>
                        <a:t>facet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8. 记录发现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汇总 EDA 报告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Quarto / R Markdown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代码示例：描述性统计与分布检验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#| eval: false</a:t>
            </a:r>
            <a:br/>
            <a:r>
              <a:rPr>
                <a:solidFill>
                  <a:srgbClr val="06287E"/>
                </a:solidFill>
                <a:latin typeface="Courier"/>
              </a:rPr>
              <a:t>library</a:t>
            </a:r>
            <a:r>
              <a:rPr>
                <a:latin typeface="Courier"/>
              </a:rPr>
              <a:t>(tidyverse)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描述性统计（含变异系数 CV）</a:t>
            </a:r>
            <a:br/>
            <a:r>
              <a:rPr>
                <a:latin typeface="Courier"/>
              </a:rPr>
              <a:t>diversity </a:t>
            </a:r>
            <a:r>
              <a:rPr>
                <a:solidFill>
                  <a:srgbClr val="4070A0"/>
                </a:solidFill>
                <a:latin typeface="Courier"/>
              </a:rPr>
              <a:t>|&gt;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summarise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across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(richness, shannon, biomass, soil_ph, organic_carbon),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list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7D9029"/>
                </a:solidFill>
                <a:latin typeface="Courier"/>
              </a:rPr>
              <a:t>mean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~</a:t>
            </a:r>
            <a:r>
              <a:rPr>
                <a:solidFill>
                  <a:srgbClr val="06287E"/>
                </a:solidFill>
                <a:latin typeface="Courier"/>
              </a:rPr>
              <a:t>mean</a:t>
            </a:r>
            <a:r>
              <a:rPr>
                <a:latin typeface="Courier"/>
              </a:rPr>
              <a:t>(.x, </a:t>
            </a:r>
            <a:r>
              <a:rPr>
                <a:solidFill>
                  <a:srgbClr val="7D9029"/>
                </a:solidFill>
                <a:latin typeface="Courier"/>
              </a:rPr>
              <a:t>na.rm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7D9029"/>
                </a:solidFill>
                <a:latin typeface="Courier"/>
              </a:rPr>
              <a:t>sd  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~</a:t>
            </a:r>
            <a:r>
              <a:rPr>
                <a:solidFill>
                  <a:srgbClr val="06287E"/>
                </a:solidFill>
                <a:latin typeface="Courier"/>
              </a:rPr>
              <a:t>sd</a:t>
            </a:r>
            <a:r>
              <a:rPr>
                <a:latin typeface="Courier"/>
              </a:rPr>
              <a:t>(.x, </a:t>
            </a:r>
            <a:r>
              <a:rPr>
                <a:solidFill>
                  <a:srgbClr val="7D9029"/>
                </a:solidFill>
                <a:latin typeface="Courier"/>
              </a:rPr>
              <a:t>na.rm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7D9029"/>
                </a:solidFill>
                <a:latin typeface="Courier"/>
              </a:rPr>
              <a:t>cv  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~</a:t>
            </a:r>
            <a:r>
              <a:rPr>
                <a:solidFill>
                  <a:srgbClr val="06287E"/>
                </a:solidFill>
                <a:latin typeface="Courier"/>
              </a:rPr>
              <a:t>sd</a:t>
            </a:r>
            <a:r>
              <a:rPr>
                <a:latin typeface="Courier"/>
              </a:rPr>
              <a:t>(.x, </a:t>
            </a:r>
            <a:r>
              <a:rPr>
                <a:solidFill>
                  <a:srgbClr val="7D9029"/>
                </a:solidFill>
                <a:latin typeface="Courier"/>
              </a:rPr>
              <a:t>na.rm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70A0"/>
                </a:solidFill>
                <a:latin typeface="Courier"/>
              </a:rPr>
              <a:t>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mean</a:t>
            </a:r>
            <a:r>
              <a:rPr>
                <a:latin typeface="Courier"/>
              </a:rPr>
              <a:t>(.x, </a:t>
            </a:r>
            <a:r>
              <a:rPr>
                <a:solidFill>
                  <a:srgbClr val="7D9029"/>
                </a:solidFill>
                <a:latin typeface="Courier"/>
              </a:rPr>
              <a:t>na.rm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70A0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100</a:t>
            </a:r>
            <a:br/>
            <a:r>
              <a:rPr>
                <a:latin typeface="Courier"/>
              </a:rPr>
              <a:t>      ),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7D9029"/>
                </a:solidFill>
                <a:latin typeface="Courier"/>
              </a:rPr>
              <a:t>.names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"{.col}_{.fn}"</a:t>
            </a:r>
            <a:br/>
            <a:r>
              <a:rPr>
                <a:latin typeface="Courier"/>
              </a:rPr>
              <a:t>    )</a:t>
            </a:r>
            <a:br/>
            <a:r>
              <a:rPr>
                <a:latin typeface="Courier"/>
              </a:rPr>
              <a:t>  ) </a:t>
            </a:r>
            <a:r>
              <a:rPr>
                <a:solidFill>
                  <a:srgbClr val="4070A0"/>
                </a:solidFill>
                <a:latin typeface="Courier"/>
              </a:rPr>
              <a:t>|&gt;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pivot_longer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everything</a:t>
            </a:r>
            <a:r>
              <a:rPr>
                <a:latin typeface="Courier"/>
              </a:rPr>
              <a:t>()) </a:t>
            </a:r>
            <a:r>
              <a:rPr>
                <a:solidFill>
                  <a:srgbClr val="4070A0"/>
                </a:solidFill>
                <a:latin typeface="Courier"/>
              </a:rPr>
              <a:t>|&gt;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n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Inf</a:t>
            </a:r>
            <a:r>
              <a:rPr>
                <a:latin typeface="Courier"/>
              </a:rPr>
              <a:t>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正态性检验</a:t>
            </a:r>
            <a:br/>
            <a:r>
              <a:rPr>
                <a:solidFill>
                  <a:srgbClr val="06287E"/>
                </a:solidFill>
                <a:latin typeface="Courier"/>
              </a:rPr>
              <a:t>shapiro.test</a:t>
            </a:r>
            <a:r>
              <a:rPr>
                <a:latin typeface="Courier"/>
              </a:rPr>
              <a:t>(diversity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biomass)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Q-Q 图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ggplot</a:t>
            </a:r>
            <a:r>
              <a:rPr>
                <a:latin typeface="Courier"/>
              </a:rPr>
              <a:t>(diversity, </a:t>
            </a:r>
            <a:r>
              <a:rPr>
                <a:solidFill>
                  <a:srgbClr val="06287E"/>
                </a:solidFill>
                <a:latin typeface="Courier"/>
              </a:rPr>
              <a:t>aes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sample =</a:t>
            </a:r>
            <a:r>
              <a:rPr>
                <a:latin typeface="Courier"/>
              </a:rPr>
              <a:t> biomass))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stat_qq</a:t>
            </a:r>
            <a:r>
              <a:rPr>
                <a:latin typeface="Courier"/>
              </a:rPr>
              <a:t>()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stat_qq_line</a:t>
            </a:r>
            <a:r>
              <a:rPr>
                <a:latin typeface="Courier"/>
              </a:rPr>
              <a:t>()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labs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title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"Biomass Q-Q Plot"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代码示例：相关分析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#| eval: false</a:t>
            </a:r>
            <a:br/>
            <a:r>
              <a:rPr>
                <a:solidFill>
                  <a:srgbClr val="06287E"/>
                </a:solidFill>
                <a:latin typeface="Courier"/>
              </a:rPr>
              <a:t>library</a:t>
            </a:r>
            <a:r>
              <a:rPr>
                <a:latin typeface="Courier"/>
              </a:rPr>
              <a:t>(corrplot)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相关系数矩阵</a:t>
            </a:r>
            <a:br/>
            <a:r>
              <a:rPr>
                <a:latin typeface="Courier"/>
              </a:rPr>
              <a:t>cor_matrix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diversity </a:t>
            </a:r>
            <a:r>
              <a:rPr>
                <a:solidFill>
                  <a:srgbClr val="4070A0"/>
                </a:solidFill>
                <a:latin typeface="Courier"/>
              </a:rPr>
              <a:t>|&gt;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where</a:t>
            </a:r>
            <a:r>
              <a:rPr>
                <a:latin typeface="Courier"/>
              </a:rPr>
              <a:t>(is.numeric)) </a:t>
            </a:r>
            <a:r>
              <a:rPr>
                <a:solidFill>
                  <a:srgbClr val="4070A0"/>
                </a:solidFill>
                <a:latin typeface="Courier"/>
              </a:rPr>
              <a:t>|&gt;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cor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use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"complete.obs"</a:t>
            </a:r>
            <a:r>
              <a:rPr>
                <a:latin typeface="Courier"/>
              </a:rPr>
              <a:t>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可视化相关矩阵</a:t>
            </a:r>
            <a:br/>
            <a:r>
              <a:rPr>
                <a:solidFill>
                  <a:srgbClr val="06287E"/>
                </a:solidFill>
                <a:latin typeface="Courier"/>
              </a:rPr>
              <a:t>corrplot</a:t>
            </a:r>
            <a:r>
              <a:rPr>
                <a:latin typeface="Courier"/>
              </a:rPr>
              <a:t>(cor_matrix,</a:t>
            </a:r>
            <a:br/>
            <a:r>
              <a:rPr>
                <a:latin typeface="Courier"/>
              </a:rPr>
              <a:t>         </a:t>
            </a:r>
            <a:r>
              <a:rPr>
                <a:solidFill>
                  <a:srgbClr val="7D9029"/>
                </a:solidFill>
                <a:latin typeface="Courier"/>
              </a:rPr>
              <a:t>method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"color"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     </a:t>
            </a:r>
            <a:r>
              <a:rPr>
                <a:solidFill>
                  <a:srgbClr val="7D9029"/>
                </a:solidFill>
                <a:latin typeface="Courier"/>
              </a:rPr>
              <a:t>type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"lower"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     </a:t>
            </a:r>
            <a:r>
              <a:rPr>
                <a:solidFill>
                  <a:srgbClr val="7D9029"/>
                </a:solidFill>
                <a:latin typeface="Courier"/>
              </a:rPr>
              <a:t>tl.cex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0.8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     </a:t>
            </a:r>
            <a:r>
              <a:rPr>
                <a:solidFill>
                  <a:srgbClr val="7D9029"/>
                </a:solidFill>
                <a:latin typeface="Courier"/>
              </a:rPr>
              <a:t>addCoef.col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"black"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     </a:t>
            </a:r>
            <a:r>
              <a:rPr>
                <a:solidFill>
                  <a:srgbClr val="7D9029"/>
                </a:solidFill>
                <a:latin typeface="Courier"/>
              </a:rPr>
              <a:t>number.cex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0.6</a:t>
            </a:r>
            <a:r>
              <a:rPr>
                <a:latin typeface="Courier"/>
              </a:rPr>
              <a:t>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关键散点图：多样性 vs 环境因子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ggplot</a:t>
            </a:r>
            <a:r>
              <a:rPr>
                <a:latin typeface="Courier"/>
              </a:rPr>
              <a:t>(diversity, </a:t>
            </a:r>
            <a:r>
              <a:rPr>
                <a:solidFill>
                  <a:srgbClr val="06287E"/>
                </a:solidFill>
                <a:latin typeface="Courier"/>
              </a:rPr>
              <a:t>aes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x =</a:t>
            </a:r>
            <a:r>
              <a:rPr>
                <a:latin typeface="Courier"/>
              </a:rPr>
              <a:t> organic_carbon, </a:t>
            </a:r>
            <a:r>
              <a:rPr>
                <a:solidFill>
                  <a:srgbClr val="7D9029"/>
                </a:solidFill>
                <a:latin typeface="Courier"/>
              </a:rPr>
              <a:t>y =</a:t>
            </a:r>
            <a:r>
              <a:rPr>
                <a:latin typeface="Courier"/>
              </a:rPr>
              <a:t> richness))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geom_point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alpha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0.6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geom_smooth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method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"lm"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7D9029"/>
                </a:solidFill>
                <a:latin typeface="Courier"/>
              </a:rPr>
              <a:t>color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"steelblue"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labs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x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"有机碳 (g/kg)"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7D9029"/>
                </a:solidFill>
                <a:latin typeface="Courier"/>
              </a:rPr>
              <a:t>y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"物种丰富度"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代码示例：分组比较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#| eval: false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按生境类型比较物种丰富度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ggplot</a:t>
            </a:r>
            <a:r>
              <a:rPr>
                <a:latin typeface="Courier"/>
              </a:rPr>
              <a:t>(diversity, </a:t>
            </a:r>
            <a:r>
              <a:rPr>
                <a:solidFill>
                  <a:srgbClr val="06287E"/>
                </a:solidFill>
                <a:latin typeface="Courier"/>
              </a:rPr>
              <a:t>aes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x =</a:t>
            </a:r>
            <a:r>
              <a:rPr>
                <a:latin typeface="Courier"/>
              </a:rPr>
              <a:t> habitat, </a:t>
            </a:r>
            <a:r>
              <a:rPr>
                <a:solidFill>
                  <a:srgbClr val="7D9029"/>
                </a:solidFill>
                <a:latin typeface="Courier"/>
              </a:rPr>
              <a:t>y =</a:t>
            </a:r>
            <a:r>
              <a:rPr>
                <a:latin typeface="Courier"/>
              </a:rPr>
              <a:t> richness, </a:t>
            </a:r>
            <a:r>
              <a:rPr>
                <a:solidFill>
                  <a:srgbClr val="7D9029"/>
                </a:solidFill>
                <a:latin typeface="Courier"/>
              </a:rPr>
              <a:t>fill =</a:t>
            </a:r>
            <a:r>
              <a:rPr>
                <a:latin typeface="Courier"/>
              </a:rPr>
              <a:t> habitat))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geom_boxplot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outlier.shape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NA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geom_jitter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width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0.2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7D9029"/>
                </a:solidFill>
                <a:latin typeface="Courier"/>
              </a:rPr>
              <a:t>alpha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0.4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labs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x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"生境类型"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7D9029"/>
                </a:solidFill>
                <a:latin typeface="Courier"/>
              </a:rPr>
              <a:t>y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"物种丰富度"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theme_minimal</a:t>
            </a:r>
            <a:r>
              <a:rPr>
                <a:latin typeface="Courier"/>
              </a:rPr>
              <a:t>()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theme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legend.position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"none"</a:t>
            </a:r>
            <a:r>
              <a:rPr>
                <a:latin typeface="Courier"/>
              </a:rPr>
              <a:t>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按干扰强度比较生物量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ggplot</a:t>
            </a:r>
            <a:r>
              <a:rPr>
                <a:latin typeface="Courier"/>
              </a:rPr>
              <a:t>(diversity, </a:t>
            </a:r>
            <a:r>
              <a:rPr>
                <a:solidFill>
                  <a:srgbClr val="06287E"/>
                </a:solidFill>
                <a:latin typeface="Courier"/>
              </a:rPr>
              <a:t>aes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x =</a:t>
            </a:r>
            <a:r>
              <a:rPr>
                <a:latin typeface="Courier"/>
              </a:rPr>
              <a:t> disturbance, </a:t>
            </a:r>
            <a:r>
              <a:rPr>
                <a:solidFill>
                  <a:srgbClr val="7D9029"/>
                </a:solidFill>
                <a:latin typeface="Courier"/>
              </a:rPr>
              <a:t>y =</a:t>
            </a:r>
            <a:r>
              <a:rPr>
                <a:latin typeface="Courier"/>
              </a:rPr>
              <a:t> biomass, </a:t>
            </a:r>
            <a:r>
              <a:rPr>
                <a:solidFill>
                  <a:srgbClr val="7D9029"/>
                </a:solidFill>
                <a:latin typeface="Courier"/>
              </a:rPr>
              <a:t>fill =</a:t>
            </a:r>
            <a:r>
              <a:rPr>
                <a:latin typeface="Courier"/>
              </a:rPr>
              <a:t> disturbance))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geom_boxplot</a:t>
            </a:r>
            <a:r>
              <a:rPr>
                <a:latin typeface="Courier"/>
              </a:rPr>
              <a:t>()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scale_y_log10</a:t>
            </a:r>
            <a:r>
              <a:rPr>
                <a:latin typeface="Courier"/>
              </a:rPr>
              <a:t>()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labs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x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"干扰强度"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7D9029"/>
                </a:solidFill>
                <a:latin typeface="Courier"/>
              </a:rPr>
              <a:t>y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"生物量 (g/m², log scale)"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缺失值模式分类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全称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特征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处理建议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MCAR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完全随机缺失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缺失与任何变量无关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删除或简单填充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随机缺失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缺失与其他观测变量有关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多重插补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MNAR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非随机缺失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缺失与自身值有关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需建模处理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实践要点</a:t>
            </a:r>
          </a:p>
          <a:p>
            <a:pPr lvl="0"/>
            <a:r>
              <a:rPr b="1"/>
              <a:t>要点一</a:t>
            </a:r>
            <a:r>
              <a:rPr/>
              <a:t>：EDA 应在任何正式分析之前完成——先探索再建模，避免”盲人摸象”</a:t>
            </a:r>
          </a:p>
          <a:p>
            <a:pPr lvl="0"/>
            <a:r>
              <a:rPr b="1"/>
              <a:t>要点二</a:t>
            </a:r>
            <a:r>
              <a:rPr/>
              <a:t>：变异系数（CV）比标准差更适合跨变量比较离散程度，CV &gt; 100% 提示高度异质</a:t>
            </a:r>
          </a:p>
          <a:p>
            <a:pPr lvl="0"/>
            <a:r>
              <a:rPr b="1"/>
              <a:t>要点三</a:t>
            </a:r>
            <a:r>
              <a:rPr/>
              <a:t>：正态性检验决定后续方法选择——通过用参数检验（t-test, ANOVA），不通过用非参数检验（Wilcoxon, Kruskal-Wallis）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动手实践是学习本课程的关键，请在电脑前跟随课程一起操作。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常见问题与解答</a:t>
            </a:r>
          </a:p>
          <a:p>
            <a:pPr lvl="0" indent="0" marL="0">
              <a:buNone/>
            </a:pPr>
            <a:r>
              <a:rPr b="1"/>
              <a:t>Q1</a:t>
            </a:r>
            <a:r>
              <a:rPr/>
              <a:t>：Shapiro-Wilk 检验 p 值很小（p &lt; 0.05），但直方图看起来接近正态怎么办？</a:t>
            </a:r>
          </a:p>
          <a:p>
            <a:pPr lvl="0" indent="0" marL="0">
              <a:buNone/>
            </a:pPr>
            <a:r>
              <a:rPr b="1"/>
              <a:t>A1</a:t>
            </a:r>
            <a:r>
              <a:rPr/>
              <a:t>：大样本时 Shapiro-Wilk 对微小偏离也很敏感。建议结合 Q-Q 图和直方图综合判断。如果样本量 &gt; 30 且 Q-Q 图大致沿直线分布，通常仍可使用参数方法。</a:t>
            </a:r>
          </a:p>
          <a:p>
            <a:pPr lvl="0" indent="0" marL="0">
              <a:buNone/>
            </a:pPr>
            <a:r>
              <a:rPr b="1"/>
              <a:t>Q2</a:t>
            </a:r>
            <a:r>
              <a:rPr/>
              <a:t>：相关系数高就说明两个变量有因果关系吗？</a:t>
            </a:r>
          </a:p>
          <a:p>
            <a:pPr lvl="0" indent="0" marL="0">
              <a:buNone/>
            </a:pPr>
            <a:r>
              <a:rPr b="1"/>
              <a:t>A2</a:t>
            </a:r>
            <a:r>
              <a:rPr/>
              <a:t>：不是。相关性 ≠ 因果性。高相关可能由第三个混杂变量导致（如海拔同时影响温度和物种丰富度）。因果推断需要实验设计或更复杂的统计方法。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本章小结</a:t>
            </a:r>
          </a:p>
          <a:p>
            <a:pPr lvl="0" indent="-342900" marL="342900">
              <a:buAutoNum type="arabicPeriod"/>
            </a:pPr>
            <a:r>
              <a:rPr/>
              <a:t>EDA 八步工作流提供了系统化的数据探索框架：概览 → 缺失 → 异常 → 描述 → 分布 → 相关 → 分组 → 记录</a:t>
            </a:r>
          </a:p>
          <a:p>
            <a:pPr lvl="0" indent="-342900" marL="342900">
              <a:buAutoNum type="arabicPeriod"/>
            </a:pPr>
            <a:r>
              <a:rPr/>
              <a:t>描述性统计（均值、标准差、CV）和分布检验（Shapiro-Wilk、Q-Q 图）是理解数据特征的基础工具</a:t>
            </a:r>
          </a:p>
          <a:p>
            <a:pPr lvl="0" indent="-342900" marL="342900">
              <a:buAutoNum type="arabicPeriod"/>
            </a:pPr>
            <a:r>
              <a:rPr/>
              <a:t>相关分析发现变量间关联，分组比较揭示类别效应，两者共同为后续建模提供方向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课后任务</a:t>
            </a:r>
          </a:p>
          <a:p>
            <a:pPr lvl="0"/>
            <a:r>
              <a:rPr/>
              <a:t>对你的数据集执行完整的 EDA 八步流程，生成描述性统计表</a:t>
            </a:r>
          </a:p>
          <a:p>
            <a:pPr lvl="0"/>
            <a:r>
              <a:rPr/>
              <a:t>用 </a:t>
            </a:r>
            <a:r>
              <a:rPr>
                <a:latin typeface="Courier"/>
              </a:rPr>
              <a:t>corrplot</a:t>
            </a:r>
            <a:r>
              <a:rPr/>
              <a:t> 绘制数值变量的相关矩阵，识别强相关变量对</a:t>
            </a:r>
          </a:p>
          <a:p>
            <a:pPr lvl="0"/>
            <a:r>
              <a:rPr/>
              <a:t>对至少一个连续变量进行正态性检验，根据结果选择合适的检验方法</a:t>
            </a:r>
          </a:p>
          <a:p>
            <a:pPr lvl="0"/>
            <a:r>
              <a:rPr b="1"/>
              <a:t>选做</a:t>
            </a:r>
            <a:r>
              <a:rPr/>
              <a:t>：撰写一份完整的 EDA 报告（使用 Quarto），涵盖八个步骤的所有发现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延伸阅读</a:t>
            </a:r>
          </a:p>
          <a:p>
            <a:pPr lvl="0"/>
            <a:r>
              <a:rPr/>
              <a:t>Tukey, J. W. (1977). </a:t>
            </a:r>
            <a:r>
              <a:rPr i="1"/>
              <a:t>Exploratory Data Analysis</a:t>
            </a:r>
            <a:r>
              <a:rPr/>
              <a:t>. Addison-Wesley.</a:t>
            </a:r>
          </a:p>
          <a:p>
            <a:pPr lvl="0"/>
            <a:r>
              <a:rPr/>
              <a:t>Zuur et al. 2010, </a:t>
            </a:r>
            <a:r>
              <a:rPr i="1"/>
              <a:t>Methods in Ecology and Evolution</a:t>
            </a:r>
            <a:r>
              <a:rPr/>
              <a:t> - 生态学数据探索的协议</a:t>
            </a:r>
          </a:p>
          <a:p>
            <a:pPr lvl="0"/>
            <a:r>
              <a:rPr>
                <a:latin typeface="Courier"/>
              </a:rPr>
              <a:t>naniar</a:t>
            </a:r>
            <a:r>
              <a:rPr/>
              <a:t> 包文档 - 缺失值可视化与分析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46</Words>
  <Application>Microsoft Macintosh PowerPoint</Application>
  <PresentationFormat>全屏显示(16:9)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Microsoft YaHei</vt:lpstr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探索性数据分析</dc:title>
  <dc:creator>Huaqing Liu</dc:creator>
  <cp:keywords/>
  <dcterms:created xsi:type="dcterms:W3CDTF">2026-03-31T08:55:44Z</dcterms:created>
  <dcterms:modified xsi:type="dcterms:W3CDTF">2026-03-31T08:55:44Z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ibliography">
    <vt:lpwstr/>
  </property>
  <property fmtid="{D5CDD505-2E9C-101B-9397-08002B2CF9AE}" pid="5" name="by-author">
    <vt:lpwstr/>
  </property>
  <property fmtid="{D5CDD505-2E9C-101B-9397-08002B2CF9AE}" pid="6" name="engines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toc-title">
    <vt:lpwstr>Table of contents</vt:lpwstr>
  </property>
</Properties>
</file>