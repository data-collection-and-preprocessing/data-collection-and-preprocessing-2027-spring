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776"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latin charset="-122" panose="020B0503020204020204" pitchFamily="34" typeface="Microsoft YaHei"/>
                <a:ea charset="-122" panose="020B0503020204020204" pitchFamily="34" typeface="Microsoft YaHei"/>
              </a:defRPr>
            </a:lvl1pPr>
          </a:lstStyle>
          <a:p>
            <a:fld id="{241EB5C9-1307-BA42-ABA2-0BC069CD8E7F}" type="datetimeFigureOut">
              <a:rPr lang="en-US" smtClean="0"/>
              <a:pPr/>
              <a:t>2/7/25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latin charset="-122" panose="020B0503020204020204" pitchFamily="34" typeface="Microsoft YaHei"/>
                <a:ea charset="-122" panose="020B0503020204020204" pitchFamily="34" typeface="Microsoft YaHei"/>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latin charset="-122" panose="020B0503020204020204" pitchFamily="34" typeface="Microsoft YaHei"/>
                <a:ea charset="-122" panose="020B0503020204020204" pitchFamily="34" typeface="Microsoft YaHei"/>
              </a:defRPr>
            </a:lvl1pPr>
          </a:lstStyle>
          <a:p>
            <a:fld id="{C5EF2332-01BF-834F-8236-50238282D533}" type="slidenum">
              <a:rPr lang="en-US" smtClean="0"/>
              <a:pPr/>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charset="-122" panose="020B0503020204020204" pitchFamily="34" typeface="Microsoft YaHei"/>
          <a:ea charset="-122" panose="020B0503020204020204" pitchFamily="34" typeface="Microsoft YaHei"/>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charset="-122" panose="020B0503020204020204" pitchFamily="34" typeface="Microsoft YaHei"/>
          <a:ea charset="-122" panose="020B0503020204020204" pitchFamily="34" typeface="Microsoft YaHei"/>
          <a:cs typeface="+mn-cs"/>
        </a:defRPr>
      </a:lvl1pPr>
      <a:lvl2pPr algn="l" defTabSz="342900" eaLnBrk="1" hangingPunct="1" indent="-342900" latinLnBrk="0" marL="685800" rtl="0">
        <a:spcBef>
          <a:spcPct val="20000"/>
        </a:spcBef>
        <a:buFont typeface="Arial"/>
        <a:buChar char="–"/>
        <a:defRPr kern="1200" sz="2100">
          <a:solidFill>
            <a:schemeClr val="tx1"/>
          </a:solidFill>
          <a:latin charset="-122" panose="020B0503020204020204" pitchFamily="34" typeface="Microsoft YaHei"/>
          <a:ea charset="-122" panose="020B0503020204020204" pitchFamily="34" typeface="Microsoft YaHei"/>
          <a:cs typeface="+mn-cs"/>
        </a:defRPr>
      </a:lvl2pPr>
      <a:lvl3pPr algn="l" defTabSz="342900" eaLnBrk="1" hangingPunct="1" indent="-342900" latinLnBrk="0" marL="1028700" rtl="0">
        <a:spcBef>
          <a:spcPct val="20000"/>
        </a:spcBef>
        <a:buFont typeface="Arial"/>
        <a:buChar char="•"/>
        <a:defRPr kern="1200" sz="1800">
          <a:solidFill>
            <a:schemeClr val="tx1"/>
          </a:solidFill>
          <a:latin charset="-122" panose="020B0503020204020204" pitchFamily="34" typeface="Microsoft YaHei"/>
          <a:ea charset="-122" panose="020B0503020204020204" pitchFamily="34" typeface="Microsoft YaHei"/>
          <a:cs typeface="+mn-cs"/>
        </a:defRPr>
      </a:lvl3pPr>
      <a:lvl4pPr algn="l" defTabSz="342900" eaLnBrk="1" hangingPunct="1" indent="-342900" latinLnBrk="0" marL="1371600" rtl="0">
        <a:spcBef>
          <a:spcPct val="20000"/>
        </a:spcBef>
        <a:buFont typeface="Arial"/>
        <a:buChar char="–"/>
        <a:defRPr kern="1200" sz="1500">
          <a:solidFill>
            <a:schemeClr val="tx1"/>
          </a:solidFill>
          <a:latin charset="-122" panose="020B0503020204020204" pitchFamily="34" typeface="Microsoft YaHei"/>
          <a:ea charset="-122" panose="020B0503020204020204" pitchFamily="34" typeface="Microsoft YaHei"/>
          <a:cs typeface="+mn-cs"/>
        </a:defRPr>
      </a:lvl4pPr>
      <a:lvl5pPr algn="l" defTabSz="342900" eaLnBrk="1" hangingPunct="1" indent="-342900" latinLnBrk="0" marL="1714500" rtl="0">
        <a:spcBef>
          <a:spcPct val="20000"/>
        </a:spcBef>
        <a:buFont typeface="Arial"/>
        <a:buChar char="»"/>
        <a:defRPr kern="1200" sz="1500">
          <a:solidFill>
            <a:schemeClr val="tx1"/>
          </a:solidFill>
          <a:latin charset="-122" panose="020B0503020204020204" pitchFamily="34" typeface="Microsoft YaHei"/>
          <a:ea charset="-122" panose="020B0503020204020204" pitchFamily="34" typeface="Microsoft YaHei"/>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docs/0101-waht-is-data-collection.html" TargetMode="External" /><Relationship Id="rId3" Type="http://schemas.openxmlformats.org/officeDocument/2006/relationships/hyperlink" Target="docs/0101-waht-is-data-preprocessing.html" TargetMode="External" /><Relationship Id="rId4" Type="http://schemas.openxmlformats.org/officeDocument/2006/relationships/hyperlink" Target="docs/0101-introduction.html"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Data-collection-and-preprocessing"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38/s41396-020-00751-7" TargetMode="External" /><Relationship Id="rId3" Type="http://schemas.openxmlformats.org/officeDocument/2006/relationships/hyperlink" Target="https://doi.org/10.1038/s43705-021-00049-5" TargetMode="External" /><Relationship Id="rId4" Type="http://schemas.openxmlformats.org/officeDocument/2006/relationships/hyperlink" Target="https://github.com/gaospecial/ggVennDiagram" TargetMode="External" /><Relationship Id="rId5" Type="http://schemas.openxmlformats.org/officeDocument/2006/relationships/hyperlink" Target="https://doi.org/10.1038/s41467-019-12898-9"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课程简介</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Huaqing Liu</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概述</a:t>
            </a:r>
          </a:p>
        </p:txBody>
      </p:sp>
      <p:sp>
        <p:nvSpPr>
          <p:cNvPr id="3" name="Content Placeholder 2"/>
          <p:cNvSpPr>
            <a:spLocks noGrp="1"/>
          </p:cNvSpPr>
          <p:nvPr>
            <p:ph idx="1"/>
          </p:nvPr>
        </p:nvSpPr>
        <p:spPr/>
        <p:txBody>
          <a:bodyPr/>
          <a:lstStyle/>
          <a:p>
            <a:pPr lvl="0" indent="0" marL="0">
              <a:buNone/>
            </a:pPr>
            <a:r>
              <a:rPr/>
              <a:t>《数据驱动的可重复性研究》课程旨在教授学生如何在科学研究中实现数据驱动的可重复性，确保研究结果的可验证性和可靠性。</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课程资源</a:t>
            </a:r>
          </a:p>
        </p:txBody>
      </p:sp>
      <p:sp>
        <p:nvSpPr>
          <p:cNvPr id="3" name="Content Placeholder 2"/>
          <p:cNvSpPr>
            <a:spLocks noGrp="1"/>
          </p:cNvSpPr>
          <p:nvPr>
            <p:ph idx="1"/>
          </p:nvPr>
        </p:nvSpPr>
        <p:spPr/>
        <p:txBody>
          <a:bodyPr/>
          <a:lstStyle/>
          <a:p>
            <a:pPr lvl="0" indent="0" marL="0">
              <a:buNone/>
            </a:pPr>
            <a:r>
              <a:rPr>
                <a:hlinkClick r:id="rId2"/>
              </a:rPr>
              <a:t>📺 点击查看本章教案 (docs)</a:t>
            </a:r>
            <a:r>
              <a:rPr/>
              <a:t> </a:t>
            </a:r>
            <a:r>
              <a:rPr>
                <a:hlinkClick r:id="rId3"/>
              </a:rPr>
              <a:t>📺 点击查看本章教案 (docs)</a:t>
            </a:r>
            <a:r>
              <a:rPr/>
              <a:t> </a:t>
            </a:r>
            <a:r>
              <a:rPr>
                <a:hlinkClick r:id="rId4"/>
              </a:rPr>
              <a:t>📺 点击查看本章教案 (docs)</a:t>
            </a:r>
            <a:r>
              <a:rPr/>
              <a:t> ::: notes Speaker notes go here. :::</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课程目标</a:t>
            </a:r>
          </a:p>
          <a:p>
            <a:pPr lvl="0"/>
            <a:r>
              <a:rPr/>
              <a:t>理解数据驱动的可重复性研究的概念和重要性</a:t>
            </a:r>
          </a:p>
          <a:p>
            <a:pPr lvl="0"/>
            <a:r>
              <a:rPr/>
              <a:t>掌握相关工具和技术，能够实施可重复性研究</a:t>
            </a:r>
          </a:p>
          <a:p>
            <a:pPr lvl="0"/>
            <a:r>
              <a:rPr/>
              <a:t>培养数据分析和代码编写的能力，提高科研水平</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课程特色</a:t>
            </a:r>
          </a:p>
          <a:p>
            <a:pPr lvl="0"/>
            <a:r>
              <a:rPr/>
              <a:t>强调数据和代码的规范化，确保可重复性</a:t>
            </a:r>
          </a:p>
          <a:p>
            <a:pPr lvl="0"/>
            <a:r>
              <a:rPr/>
              <a:t>以项目为导向，关注实际应用场景</a:t>
            </a:r>
          </a:p>
          <a:p>
            <a:pPr lvl="0"/>
            <a:r>
              <a:rPr/>
              <a:t>注重实践操作，强调动手能力</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课堂组织形式</a:t>
            </a:r>
          </a:p>
          <a:p>
            <a:pPr lvl="0" indent="0" marL="0">
              <a:buNone/>
            </a:pPr>
            <a:r>
              <a:rPr/>
              <a:t>因为选课场地限制，无法提供机房。请选课的同学自行准备电脑，并根据课程进度安排，确保电脑上安装了 R、Python 等需要用到的软件。</a:t>
            </a:r>
          </a:p>
          <a:p>
            <a:pPr lvl="0"/>
            <a:r>
              <a:rPr b="1"/>
              <a:t>课堂讲解</a:t>
            </a:r>
            <a:r>
              <a:rPr/>
              <a:t>：介绍相关概念、方法和工具</a:t>
            </a:r>
          </a:p>
          <a:p>
            <a:pPr lvl="0"/>
            <a:r>
              <a:rPr b="1"/>
              <a:t>实践操作</a:t>
            </a:r>
            <a:r>
              <a:rPr/>
              <a:t>：通过实际案例进行动手实践</a:t>
            </a:r>
          </a:p>
          <a:p>
            <a:pPr lvl="0"/>
            <a:r>
              <a:rPr b="1"/>
              <a:t>小组讨论</a:t>
            </a:r>
            <a:r>
              <a:rPr/>
              <a:t>：学生之间进行交流与协作</a:t>
            </a:r>
          </a:p>
          <a:p>
            <a:pPr lvl="0"/>
            <a:r>
              <a:rPr b="1"/>
              <a:t>课后作业</a:t>
            </a:r>
            <a:r>
              <a:rPr/>
              <a:t>：巩固所学知识，提高实践能力</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如何分组？</a:t>
            </a:r>
          </a:p>
          <a:p>
            <a:pPr lvl="0"/>
            <a:r>
              <a:rPr/>
              <a:t>请自行分组，每组人数不低于 3 人，不超过 5 人。</a:t>
            </a:r>
          </a:p>
          <a:p>
            <a:pPr lvl="0"/>
            <a:r>
              <a:rPr/>
              <a:t>在第二次课程开始前，请在雨课堂内确认分组。</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如何考察？</a:t>
            </a:r>
          </a:p>
          <a:p>
            <a:pPr lvl="0"/>
            <a:r>
              <a:rPr/>
              <a:t>使用课程中教授的技能，创建一个数据分析、软件开发、研究复现等类型的项目</a:t>
            </a:r>
          </a:p>
          <a:p>
            <a:pPr lvl="0"/>
            <a:r>
              <a:rPr/>
              <a:t>3 - 5 人一组共创一个项目，将项目代码提交到</a:t>
            </a:r>
            <a:r>
              <a:rPr>
                <a:hlinkClick r:id="rId2"/>
              </a:rPr>
              <a:t>课程仓库</a:t>
            </a:r>
          </a:p>
          <a:p>
            <a:pPr lvl="0"/>
            <a:r>
              <a:rPr/>
              <a:t>需要保证每个人在项目中都有贡献（通过 Git 追踪）。</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上课时间</a:t>
            </a:r>
          </a:p>
          <a:p>
            <a:pPr lvl="0"/>
            <a:r>
              <a:rPr/>
              <a:t>本课程含理论和上机实验。</a:t>
            </a:r>
          </a:p>
          <a:p>
            <a:pPr lvl="0"/>
            <a:r>
              <a:rPr/>
              <a:t>一共 10 次课，共 32 学时。</a:t>
            </a:r>
          </a:p>
          <a:p>
            <a:pPr lvl="0" indent="0" marL="0">
              <a:buNone/>
            </a:pPr>
          </a:p>
          <a:p>
            <a:pPr lvl="0" indent="0" marL="0">
              <a:spcBef>
                <a:spcPts val="3000"/>
              </a:spcBef>
              <a:buNone/>
            </a:pPr>
            <a:r>
              <a:rPr b="1"/>
              <a:t>2027年春季学期</a:t>
            </a:r>
          </a:p>
          <a:p>
            <a:pPr lvl="0"/>
            <a:r>
              <a:rPr/>
              <a:t>时间：自 2027-02-17 至 2027-03-20，每周一、周四晚上</a:t>
            </a:r>
          </a:p>
          <a:p>
            <a:pPr lvl="0"/>
            <a:r>
              <a:rPr/>
              <a:t>地点：相约三教阶梯教室 S2</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项目驱动</a:t>
            </a:r>
          </a:p>
          <a:p>
            <a:pPr lvl="0"/>
            <a:r>
              <a:rPr/>
              <a:t>每次课程围绕一个独立但相互关联的项目展开</a:t>
            </a:r>
          </a:p>
          <a:p>
            <a:pPr lvl="0"/>
            <a:r>
              <a:rPr/>
              <a:t>所有项目可分为 4 个模块</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四个模块</a:t>
            </a:r>
          </a:p>
          <a:p>
            <a:pPr lvl="0"/>
            <a:r>
              <a:rPr/>
              <a:t>环境搭建模块：在自己的电脑中搭建数据分析环境</a:t>
            </a:r>
          </a:p>
          <a:p>
            <a:pPr lvl="0"/>
            <a:r>
              <a:rPr/>
              <a:t>数据采集模块：使用 R 进行数据分析和可视化的基本操作</a:t>
            </a:r>
          </a:p>
          <a:p>
            <a:pPr lvl="0"/>
            <a:r>
              <a:rPr/>
              <a:t>数据预处理模块：借助人工智能工具进行数据分析</a:t>
            </a:r>
          </a:p>
          <a:p>
            <a:pPr lvl="0"/>
            <a:r>
              <a:rPr/>
              <a:t>实践模块：与全世界开发者协作，开发自己的软件包</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课程项目一览</a:t>
            </a:r>
          </a:p>
        </p:txBody>
      </p:sp>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项目内容及讲授顺序会根据实际情况进行调整。</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环境搭建模块</a:t>
            </a:r>
          </a:p>
          <a:p>
            <a:pPr lvl="0" indent="0" marL="0">
              <a:buNone/>
            </a:pPr>
            <a:r>
              <a:rPr/>
              <a:t>环境搭建模块的项目内容包括：</a:t>
            </a:r>
          </a:p>
          <a:p>
            <a:pPr lvl="0" indent="-342900" marL="342900">
              <a:buAutoNum type="arabicPeriod"/>
            </a:pPr>
            <a:r>
              <a:rPr/>
              <a:t>电脑硬件和操作系统</a:t>
            </a:r>
          </a:p>
          <a:p>
            <a:pPr lvl="0" indent="-342900" marL="342900">
              <a:buAutoNum type="arabicPeriod"/>
            </a:pPr>
            <a:r>
              <a:rPr/>
              <a:t>可重复的数据分析环境</a:t>
            </a:r>
          </a:p>
          <a:p>
            <a:pPr lvl="0" indent="-342900" marL="342900">
              <a:buAutoNum type="arabicPeriod"/>
            </a:pPr>
            <a:r>
              <a:rPr/>
              <a:t>现代工具链</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数据分析模块</a:t>
            </a:r>
          </a:p>
          <a:p>
            <a:pPr lvl="0" indent="0" marL="0">
              <a:buNone/>
            </a:pPr>
            <a:r>
              <a:rPr/>
              <a:t>数据分析模块的项目内容包括：</a:t>
            </a:r>
          </a:p>
          <a:p>
            <a:pPr lvl="0" indent="-342900" marL="342900">
              <a:buAutoNum startAt="4" type="arabicPeriod"/>
            </a:pPr>
            <a:r>
              <a:rPr/>
              <a:t>分组数据统计分析和可视化</a:t>
            </a:r>
          </a:p>
          <a:p>
            <a:pPr lvl="0" indent="-342900" marL="342900">
              <a:buAutoNum startAt="4" type="arabicPeriod"/>
            </a:pPr>
            <a:r>
              <a:rPr/>
              <a:t>转录组学数据分析和可视化</a:t>
            </a:r>
          </a:p>
          <a:p>
            <a:pPr lvl="0" indent="-342900" marL="342900">
              <a:buAutoNum startAt="4" type="arabicPeriod"/>
            </a:pPr>
            <a:r>
              <a:rPr/>
              <a:t>微生物组数据分析及可视化</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人工智能模块</a:t>
            </a:r>
          </a:p>
          <a:p>
            <a:pPr lvl="0" indent="0" marL="0">
              <a:buNone/>
            </a:pPr>
            <a:r>
              <a:rPr/>
              <a:t>人工智能模块的项目内容包括：</a:t>
            </a:r>
          </a:p>
          <a:p>
            <a:pPr lvl="0" indent="-342900" marL="342900">
              <a:buAutoNum startAt="7" type="arabicPeriod"/>
            </a:pPr>
            <a:r>
              <a:rPr/>
              <a:t>调用通用大语言模型执行任务</a:t>
            </a:r>
          </a:p>
          <a:p>
            <a:pPr lvl="0" indent="-342900" marL="342900">
              <a:buAutoNum startAt="7" type="arabicPeriod"/>
            </a:pPr>
            <a:r>
              <a:rPr/>
              <a:t>机器学习算法及实现</a:t>
            </a:r>
          </a:p>
          <a:p>
            <a:pPr lvl="0" indent="-342900" marL="342900">
              <a:buAutoNum startAt="7" type="arabicPeriod"/>
            </a:pPr>
            <a:r>
              <a:rPr/>
              <a:t>手搓神经网络模型</a:t>
            </a:r>
          </a:p>
          <a:p>
            <a:pPr lvl="0" indent="-342900" marL="342900">
              <a:buAutoNum startAt="7" type="arabicPeriod"/>
            </a:pPr>
            <a:r>
              <a:rPr/>
              <a:t>利用拉曼光谱识别病原菌</a:t>
            </a:r>
          </a:p>
          <a:p>
            <a:pPr lvl="0" indent="-342900" marL="342900">
              <a:buAutoNum startAt="7" type="arabicPeriod"/>
            </a:pPr>
            <a:r>
              <a:rPr/>
              <a:t>计算机视觉辅助分析实验图片</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开发协作模块</a:t>
            </a:r>
          </a:p>
          <a:p>
            <a:pPr lvl="0" indent="0" marL="0">
              <a:buNone/>
            </a:pPr>
            <a:r>
              <a:rPr/>
              <a:t>开发协作模块的项目内容包括：</a:t>
            </a:r>
          </a:p>
          <a:p>
            <a:pPr lvl="0" indent="-342900" marL="342900">
              <a:buAutoNum startAt="12" type="arabicPeriod"/>
            </a:pPr>
            <a:r>
              <a:rPr/>
              <a:t>与全世界开发者协作</a:t>
            </a:r>
          </a:p>
          <a:p>
            <a:pPr lvl="0" indent="-342900" marL="342900">
              <a:buAutoNum startAt="12" type="arabicPeriod"/>
            </a:pPr>
            <a:r>
              <a:rPr/>
              <a:t>开发 R 包</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课程大纲</a:t>
            </a:r>
          </a:p>
        </p:txBody>
      </p:sp>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课程大纲及讲授内容会根据实际情况进行调整。</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环境搭建模块</a:t>
            </a:r>
          </a:p>
          <a:p>
            <a:pPr lvl="0" indent="-342900" marL="342900">
              <a:buAutoNum type="arabicPeriod"/>
            </a:pPr>
            <a:r>
              <a:rPr b="1"/>
              <a:t>电脑硬件和操作系统</a:t>
            </a:r>
            <a:r>
              <a:rPr/>
              <a:t>【自备】</a:t>
            </a:r>
          </a:p>
          <a:p>
            <a:pPr lvl="1"/>
            <a:r>
              <a:rPr/>
              <a:t>推荐使用 Linux/WSL 系统</a:t>
            </a:r>
          </a:p>
          <a:p>
            <a:pPr lvl="0" indent="-342900" marL="342900">
              <a:buAutoNum type="arabicPeriod"/>
            </a:pPr>
            <a:r>
              <a:rPr b="1"/>
              <a:t>可重复的数据分析环境</a:t>
            </a:r>
          </a:p>
          <a:p>
            <a:pPr lvl="1"/>
            <a:r>
              <a:rPr/>
              <a:t>安装脚本语言工具 </a:t>
            </a:r>
            <a:r>
              <a:rPr>
                <a:latin typeface="Courier"/>
              </a:rPr>
              <a:t>R</a:t>
            </a:r>
            <a:r>
              <a:rPr/>
              <a:t> &amp; </a:t>
            </a:r>
            <a:r>
              <a:rPr>
                <a:latin typeface="Courier"/>
              </a:rPr>
              <a:t>RStudio</a:t>
            </a:r>
          </a:p>
          <a:p>
            <a:pPr lvl="1"/>
            <a:r>
              <a:rPr/>
              <a:t>安装 </a:t>
            </a:r>
            <a:r>
              <a:rPr>
                <a:latin typeface="Courier"/>
              </a:rPr>
              <a:t>tidyverse</a:t>
            </a:r>
            <a:r>
              <a:rPr/>
              <a:t>、</a:t>
            </a:r>
            <a:r>
              <a:rPr>
                <a:latin typeface="Courier"/>
              </a:rPr>
              <a:t>ggpubr</a:t>
            </a:r>
            <a:r>
              <a:rPr/>
              <a:t> 等 R 包</a:t>
            </a:r>
          </a:p>
          <a:p>
            <a:pPr lvl="1"/>
            <a:r>
              <a:rPr/>
              <a:t>安装 </a:t>
            </a:r>
            <a:r>
              <a:rPr>
                <a:latin typeface="Courier"/>
              </a:rPr>
              <a:t>Conda</a:t>
            </a:r>
            <a:r>
              <a:rPr/>
              <a:t> &amp; </a:t>
            </a:r>
            <a:r>
              <a:rPr>
                <a:latin typeface="Courier"/>
              </a:rPr>
              <a:t>Python</a:t>
            </a:r>
          </a:p>
          <a:p>
            <a:pPr lvl="1"/>
            <a:r>
              <a:rPr/>
              <a:t>安装 </a:t>
            </a:r>
            <a:r>
              <a:rPr>
                <a:latin typeface="Courier"/>
              </a:rPr>
              <a:t>Git</a:t>
            </a:r>
            <a:r>
              <a:rPr/>
              <a:t>，注册 </a:t>
            </a:r>
            <a:r>
              <a:rPr>
                <a:latin typeface="Courier"/>
              </a:rPr>
              <a:t>GitHub</a:t>
            </a:r>
            <a:r>
              <a:rPr/>
              <a:t>/</a:t>
            </a:r>
            <a:r>
              <a:rPr>
                <a:latin typeface="Courier"/>
              </a:rPr>
              <a:t>Gitee</a:t>
            </a:r>
            <a:r>
              <a:rPr/>
              <a:t> 账号</a:t>
            </a:r>
          </a:p>
          <a:p>
            <a:pPr lvl="1"/>
            <a:r>
              <a:rPr/>
              <a:t>安装 VSCode、JupyterLab、Quarto 等工具</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3" type="arabicPeriod"/>
            </a:pPr>
            <a:r>
              <a:rPr b="1"/>
              <a:t>现代工具链</a:t>
            </a:r>
          </a:p>
          <a:p>
            <a:pPr lvl="1"/>
            <a:r>
              <a:rPr/>
              <a:t>Markdown 和 Latex</a:t>
            </a:r>
          </a:p>
          <a:p>
            <a:pPr lvl="1"/>
            <a:r>
              <a:rPr/>
              <a:t>R Markdown 和 JupyterLab</a:t>
            </a:r>
          </a:p>
          <a:p>
            <a:pPr lvl="1"/>
            <a:r>
              <a:rPr/>
              <a:t>Quarto 文档</a:t>
            </a:r>
          </a:p>
          <a:p>
            <a:pPr lvl="1"/>
            <a:r>
              <a:rPr/>
              <a:t>Git 和 GitHub/Gitee</a:t>
            </a:r>
          </a:p>
          <a:p>
            <a:pPr lvl="1"/>
            <a:r>
              <a:rPr/>
              <a:t>AI 代码编辑器</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数据分析模块</a:t>
            </a:r>
          </a:p>
          <a:p>
            <a:pPr lvl="0" indent="-342900" marL="342900">
              <a:buAutoNum startAt="4" type="arabicPeriod"/>
            </a:pPr>
            <a:r>
              <a:rPr b="1"/>
              <a:t>分组数据统计分析和可视化</a:t>
            </a:r>
          </a:p>
          <a:p>
            <a:pPr lvl="1" indent="0" marL="342900">
              <a:buNone/>
            </a:pPr>
            <a:r>
              <a:rPr/>
              <a:t>以 2021 年发表在 ISME J 的论文为例，讲解统计分析和可视化的方法 (Gao, Cao, Cai, et al. 2021)。</a:t>
            </a:r>
          </a:p>
          <a:p>
            <a:pPr lvl="1"/>
            <a:r>
              <a:rPr>
                <a:latin typeface="Courier"/>
              </a:rPr>
              <a:t>ggplot2</a:t>
            </a:r>
            <a:r>
              <a:rPr/>
              <a:t> 软件包及图形语法</a:t>
            </a:r>
          </a:p>
          <a:p>
            <a:pPr lvl="1"/>
            <a:r>
              <a:rPr/>
              <a:t>统计分析的数学基础</a:t>
            </a:r>
          </a:p>
          <a:p>
            <a:pPr lvl="1"/>
            <a:r>
              <a:rPr/>
              <a:t>示例数据集的介绍</a:t>
            </a:r>
          </a:p>
          <a:p>
            <a:pPr lvl="1"/>
            <a:r>
              <a:rPr>
                <a:latin typeface="Courier"/>
              </a:rPr>
              <a:t>ggpubr</a:t>
            </a:r>
            <a:r>
              <a:rPr/>
              <a:t> 软件包的应用</a:t>
            </a:r>
          </a:p>
          <a:p>
            <a:pPr lvl="1"/>
            <a:r>
              <a:rPr/>
              <a:t>分组比对、统计和可视化</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5" type="arabicPeriod"/>
            </a:pPr>
            <a:r>
              <a:rPr b="1"/>
              <a:t>转录组学数据分析和可视化</a:t>
            </a:r>
          </a:p>
          <a:p>
            <a:pPr lvl="1" indent="0" marL="342900">
              <a:buNone/>
            </a:pPr>
            <a:r>
              <a:rPr/>
              <a:t>以 2021 年发表在 ISME Communications 的论文为例，讲解转录组学数据分析和可视化的方法 (Gao, Cao, Ju, et al. 2021)。</a:t>
            </a:r>
          </a:p>
          <a:p>
            <a:pPr lvl="1"/>
            <a:r>
              <a:rPr/>
              <a:t>转录组学分析的基本原理</a:t>
            </a:r>
          </a:p>
          <a:p>
            <a:pPr lvl="1"/>
            <a:r>
              <a:rPr>
                <a:latin typeface="Courier"/>
              </a:rPr>
              <a:t>Bioconductor</a:t>
            </a:r>
            <a:r>
              <a:rPr/>
              <a:t> 软件（</a:t>
            </a:r>
            <a:r>
              <a:rPr>
                <a:latin typeface="Courier"/>
              </a:rPr>
              <a:t>DESeq2</a:t>
            </a:r>
            <a:r>
              <a:rPr/>
              <a:t>、</a:t>
            </a:r>
            <a:r>
              <a:rPr>
                <a:latin typeface="Courier"/>
              </a:rPr>
              <a:t>ClusterProfiler</a:t>
            </a:r>
            <a:r>
              <a:rPr/>
              <a:t>、</a:t>
            </a:r>
            <a:r>
              <a:rPr>
                <a:latin typeface="Courier"/>
              </a:rPr>
              <a:t>enrichplot</a:t>
            </a:r>
            <a:r>
              <a:rPr/>
              <a:t>）</a:t>
            </a:r>
          </a:p>
          <a:p>
            <a:pPr lvl="1"/>
            <a:r>
              <a:rPr/>
              <a:t>基因功能数据库（</a:t>
            </a:r>
            <a:r>
              <a:rPr>
                <a:latin typeface="Courier"/>
              </a:rPr>
              <a:t>KEGG</a:t>
            </a:r>
            <a:r>
              <a:rPr/>
              <a:t>、</a:t>
            </a:r>
            <a:r>
              <a:rPr>
                <a:latin typeface="Courier"/>
              </a:rPr>
              <a:t>GO</a:t>
            </a:r>
            <a:r>
              <a:rPr/>
              <a:t>、</a:t>
            </a:r>
            <a:r>
              <a:rPr>
                <a:latin typeface="Courier"/>
              </a:rPr>
              <a:t>CAZyme</a:t>
            </a:r>
            <a:r>
              <a:rPr/>
              <a:t>、</a:t>
            </a:r>
            <a:r>
              <a:rPr>
                <a:latin typeface="Courier"/>
              </a:rPr>
              <a:t>ARG</a:t>
            </a:r>
            <a:r>
              <a:rPr/>
              <a:t>、</a:t>
            </a:r>
            <a:r>
              <a:rPr>
                <a:latin typeface="Courier"/>
              </a:rPr>
              <a:t>COG</a:t>
            </a:r>
            <a:r>
              <a:rPr/>
              <a:t>）</a:t>
            </a:r>
          </a:p>
          <a:p>
            <a:pPr lvl="1"/>
            <a:r>
              <a:rPr/>
              <a:t>富集分析和 </a:t>
            </a:r>
            <a:r>
              <a:rPr>
                <a:latin typeface="Courier"/>
              </a:rPr>
              <a:t>GSEA</a:t>
            </a:r>
            <a:r>
              <a:rPr/>
              <a:t> 分析</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6" type="arabicPeriod"/>
            </a:pPr>
            <a:r>
              <a:rPr b="1"/>
              <a:t>微生物组数据分析及可视化</a:t>
            </a:r>
          </a:p>
          <a:p>
            <a:pPr lvl="1" indent="0" marL="342900">
              <a:buNone/>
            </a:pPr>
            <a:r>
              <a:rPr/>
              <a:t>以 dada2 软件包提供的示例数据为例，讲解微生物组数据分析和可视化的方法。</a:t>
            </a:r>
          </a:p>
          <a:p>
            <a:pPr lvl="1" indent="-342900" marL="685800">
              <a:buAutoNum type="arabicPeriod"/>
            </a:pPr>
            <a:r>
              <a:rPr/>
              <a:t>dada2 软件包介绍</a:t>
            </a:r>
          </a:p>
          <a:p>
            <a:pPr lvl="1" indent="-342900" marL="685800">
              <a:buAutoNum type="arabicPeriod"/>
            </a:pPr>
            <a:r>
              <a:rPr/>
              <a:t>微生物组数据分析流程</a:t>
            </a:r>
          </a:p>
          <a:p>
            <a:pPr lvl="1" indent="-342900" marL="685800">
              <a:buAutoNum type="arabicPeriod"/>
            </a:pPr>
            <a:r>
              <a:rPr/>
              <a:t>微生物组数据可视化</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人工智能模块</a:t>
            </a:r>
          </a:p>
          <a:p>
            <a:pPr lvl="0" indent="-342900" marL="342900">
              <a:buAutoNum startAt="7" type="arabicPeriod"/>
            </a:pPr>
            <a:r>
              <a:rPr b="1"/>
              <a:t>调用通用大语言模型执行任务</a:t>
            </a:r>
          </a:p>
          <a:p>
            <a:pPr lvl="1"/>
            <a:r>
              <a:rPr/>
              <a:t>HuggingFace 和 Modelscope</a:t>
            </a:r>
          </a:p>
          <a:p>
            <a:pPr lvl="1"/>
            <a:r>
              <a:rPr/>
              <a:t>ChatGPT 和 ChatGLM</a:t>
            </a:r>
          </a:p>
          <a:p>
            <a:pPr lvl="1"/>
            <a:r>
              <a:rPr/>
              <a:t>模型性能评估（评测数据集、标准及测评工具Inspect）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8" type="arabicPeriod"/>
            </a:pPr>
            <a:r>
              <a:rPr b="1"/>
              <a:t>机器学习算法及实现</a:t>
            </a:r>
          </a:p>
          <a:p>
            <a:pPr lvl="1" indent="0" marL="342900">
              <a:buNone/>
            </a:pPr>
            <a:r>
              <a:rPr/>
              <a:t>以熔解曲线数据建模为例，讲解机器学习算法及实现的方法。</a:t>
            </a:r>
          </a:p>
          <a:p>
            <a:pPr lvl="1"/>
            <a:r>
              <a:rPr/>
              <a:t>线性回归及其变种</a:t>
            </a:r>
          </a:p>
          <a:p>
            <a:pPr lvl="1"/>
            <a:r>
              <a:rPr/>
              <a:t>决策树、随机森林</a:t>
            </a:r>
          </a:p>
          <a:p>
            <a:pPr lvl="1"/>
            <a:r>
              <a:rPr/>
              <a:t>以熔解曲线数据建模为例</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9" type="arabicPeriod"/>
            </a:pPr>
            <a:r>
              <a:rPr b="1"/>
              <a:t>手搓神经网络模型</a:t>
            </a:r>
          </a:p>
          <a:p>
            <a:pPr lvl="1" indent="0" marL="342900">
              <a:buNone/>
            </a:pPr>
            <a:r>
              <a:rPr/>
              <a:t>以手写字母识别为例，从零搭建一个 LeNet 神经网络模型。</a:t>
            </a:r>
          </a:p>
          <a:p>
            <a:pPr lvl="1"/>
            <a:r>
              <a:rPr/>
              <a:t>神经网络模型基本概念</a:t>
            </a:r>
          </a:p>
          <a:p>
            <a:pPr lvl="1"/>
            <a:r>
              <a:rPr/>
              <a:t>评估模型的准确率</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10" type="arabicPeriod"/>
            </a:pPr>
            <a:r>
              <a:rPr b="1"/>
              <a:t>利用拉曼光谱识别病原菌</a:t>
            </a:r>
          </a:p>
          <a:p>
            <a:pPr lvl="1" indent="0" marL="342900">
              <a:buNone/>
            </a:pPr>
            <a:r>
              <a:rPr/>
              <a:t>以发表在 Nature Communications 上的一篇论文为例，讲解拉曼光谱+残差网络的应用(Ho et al. 2019)。</a:t>
            </a:r>
          </a:p>
          <a:p>
            <a:pPr lvl="1"/>
            <a:r>
              <a:rPr/>
              <a:t>拉曼光谱技术</a:t>
            </a:r>
          </a:p>
          <a:p>
            <a:pPr lvl="1"/>
            <a:r>
              <a:rPr/>
              <a:t>ResNet 及残差网络</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11" type="arabicPeriod"/>
            </a:pPr>
            <a:r>
              <a:rPr b="1"/>
              <a:t>计算机视觉分析实验图片</a:t>
            </a:r>
          </a:p>
          <a:p>
            <a:pPr lvl="1" indent="0" marL="342900">
              <a:buNone/>
            </a:pPr>
            <a:r>
              <a:rPr/>
              <a:t>以植物图片分割为例，讲解如何使用计算机视觉技术分析实验图片。</a:t>
            </a:r>
          </a:p>
          <a:p>
            <a:pPr lvl="1"/>
            <a:r>
              <a:rPr/>
              <a:t>分割植株及背景</a:t>
            </a:r>
          </a:p>
          <a:p>
            <a:pPr lvl="1"/>
            <a:r>
              <a:rPr/>
              <a:t>评价植物生长情况</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开发协作模块</a:t>
            </a:r>
          </a:p>
          <a:p>
            <a:pPr lvl="0" indent="-342900" marL="342900">
              <a:buAutoNum startAt="12" type="arabicPeriod"/>
            </a:pPr>
            <a:r>
              <a:rPr b="1"/>
              <a:t>与全世界开发者协作</a:t>
            </a:r>
          </a:p>
          <a:p>
            <a:pPr lvl="1" indent="0" marL="342900">
              <a:buNone/>
            </a:pPr>
            <a:r>
              <a:rPr/>
              <a:t>讲解如何使用 GitHub 自动化，交流和创建网站。</a:t>
            </a:r>
          </a:p>
          <a:p>
            <a:pPr lvl="1"/>
            <a:r>
              <a:rPr/>
              <a:t>Fork、Pull Request</a:t>
            </a:r>
          </a:p>
          <a:p>
            <a:pPr lvl="1"/>
            <a:r>
              <a:rPr/>
              <a:t>GitHub Actions</a:t>
            </a:r>
          </a:p>
          <a:p>
            <a:pPr lvl="1"/>
            <a:r>
              <a:rPr/>
              <a:t>GitHub Issues</a:t>
            </a:r>
          </a:p>
          <a:p>
            <a:pPr lvl="1"/>
            <a:r>
              <a:rPr/>
              <a:t>使用 Quarto 创建网站</a:t>
            </a:r>
          </a:p>
          <a:p>
            <a:pPr lvl="1"/>
            <a:r>
              <a:rPr/>
              <a:t>部署 Netlify 静态网站</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13" type="arabicPeriod"/>
            </a:pPr>
            <a:r>
              <a:rPr b="1"/>
              <a:t>开发 R 包</a:t>
            </a:r>
          </a:p>
          <a:p>
            <a:pPr lvl="1" indent="0" marL="342900">
              <a:buNone/>
            </a:pPr>
            <a:r>
              <a:rPr/>
              <a:t>以 ggVennDiagram 软件包开发为例，讲解如何开发软件包，让别人可以用来“复现”你的工作(Gao and Dusa 2024)。</a:t>
            </a:r>
          </a:p>
          <a:p>
            <a:pPr lvl="1"/>
            <a:r>
              <a:rPr/>
              <a:t>devtools</a:t>
            </a:r>
          </a:p>
          <a:p>
            <a:pPr lvl="1"/>
            <a:r>
              <a:rPr/>
              <a:t>usethis</a:t>
            </a:r>
          </a:p>
          <a:p>
            <a:pPr lvl="1"/>
            <a:r>
              <a:rPr/>
              <a:t>Roxygen2</a:t>
            </a:r>
          </a:p>
          <a:p>
            <a:pPr lvl="1"/>
            <a:r>
              <a:rPr/>
              <a:t>CRAN/Bioconductor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重要提示</a:t>
            </a:r>
          </a:p>
          <a:p>
            <a:pPr lvl="0"/>
            <a:r>
              <a:rPr/>
              <a:t>这是一门全新的课程，请同学们</a:t>
            </a:r>
            <a:r>
              <a:rPr b="1"/>
              <a:t>多提宝贵意见</a:t>
            </a:r>
            <a:r>
              <a:rPr/>
              <a:t>，参与课程完善的过程。</a:t>
            </a:r>
          </a:p>
          <a:p>
            <a:pPr lvl="0"/>
            <a:r>
              <a:rPr/>
              <a:t>这是一门进阶课，课程有一定难度，请同学们在课堂内外</a:t>
            </a:r>
            <a:r>
              <a:rPr b="1"/>
              <a:t>多花有效时间</a:t>
            </a:r>
            <a:r>
              <a:rPr/>
              <a:t>。</a:t>
            </a:r>
          </a:p>
          <a:p>
            <a:pPr lvl="0"/>
            <a:r>
              <a:rPr/>
              <a:t>这是一门实践课，请同学们一定要</a:t>
            </a:r>
            <a:r>
              <a:rPr b="1"/>
              <a:t>在自己的电脑上成功运行</a:t>
            </a:r>
            <a:r>
              <a:rPr/>
              <a:t>课程中教授的内容。</a:t>
            </a:r>
          </a:p>
          <a:p>
            <a:pPr lvl="0"/>
            <a:r>
              <a:rPr/>
              <a:t>这是一门 AI 课，请同学们在学习的过程中</a:t>
            </a:r>
            <a:r>
              <a:rPr b="1"/>
              <a:t>主动寻求 AI 工具的帮助</a:t>
            </a:r>
            <a:r>
              <a:rPr/>
              <a:t>。</a:t>
            </a:r>
          </a:p>
          <a:p>
            <a:pPr lvl="0"/>
            <a:r>
              <a:rPr/>
              <a:t>这是一门项目课，请同学们</a:t>
            </a:r>
            <a:r>
              <a:rPr b="1"/>
              <a:t>结合自己的研究需求</a:t>
            </a:r>
            <a:r>
              <a:rPr/>
              <a:t>深入的挖掘项目内容。</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课后作业</a:t>
            </a:r>
          </a:p>
          <a:p>
            <a:pPr lvl="0"/>
            <a:r>
              <a:rPr/>
              <a:t>加入课程群组（QQ 群：973581293）</a:t>
            </a:r>
          </a:p>
          <a:p>
            <a:pPr lvl="0"/>
            <a:r>
              <a:rPr/>
              <a:t>加入课程组织（GitHub Organization：https://github.com/D2RS-2025spring）</a:t>
            </a:r>
          </a:p>
          <a:p>
            <a:pPr lvl="0"/>
            <a:r>
              <a:rPr/>
              <a:t>自主建立学习小组（在雨课堂自行分组）</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Gao, Chun-Hui, Hui Cao, Peng Cai, and Søren J. Sørensen. 2021. “The Initial Inoculation Ratio Regulates Bacterial Coculture Interactions and Metabolic Capacity.” </a:t>
            </a:r>
            <a:r>
              <a:rPr i="1"/>
              <a:t>ISME Journal</a:t>
            </a:r>
            <a:r>
              <a:rPr/>
              <a:t> 15 (1): 29–40. </a:t>
            </a:r>
            <a:r>
              <a:rPr>
                <a:hlinkClick r:id="rId2"/>
              </a:rPr>
              <a:t>https://doi.org/10.1038/s41396-020-00751-7</a:t>
            </a:r>
            <a:r>
              <a:rPr/>
              <a:t>.</a:t>
            </a:r>
          </a:p>
          <a:p>
            <a:pPr lvl="0" indent="0" marL="0">
              <a:buNone/>
            </a:pPr>
            <a:r>
              <a:rPr/>
              <a:t>Gao, Chun-Hui, Hui Cao, Feng Ju, Ke-Qing Xiao, Peng Cai, Yichao Wu, and Qiaoyun Huang. 2021. “Emergent Transcriptional Adaption Facilitates Convergent Succession Within a Synthetic Community.” </a:t>
            </a:r>
            <a:r>
              <a:rPr i="1"/>
              <a:t>ISME Communications</a:t>
            </a:r>
            <a:r>
              <a:rPr/>
              <a:t> 1 (1): 46. </a:t>
            </a:r>
            <a:r>
              <a:rPr>
                <a:hlinkClick r:id="rId3"/>
              </a:rPr>
              <a:t>https://doi.org/10.1038/s43705-021-00049-5</a:t>
            </a:r>
            <a:r>
              <a:rPr/>
              <a:t>.</a:t>
            </a:r>
          </a:p>
          <a:p>
            <a:pPr lvl="0" indent="0" marL="0">
              <a:buNone/>
            </a:pPr>
            <a:r>
              <a:rPr/>
              <a:t>Gao, Chun-Hui, and Adrian Dusa. 2024. </a:t>
            </a:r>
            <a:r>
              <a:rPr i="1"/>
              <a:t>ggVennDiagram: A Ggplot2 Implement of Venn Diagram</a:t>
            </a:r>
            <a:r>
              <a:rPr/>
              <a:t>. </a:t>
            </a:r>
            <a:r>
              <a:rPr>
                <a:hlinkClick r:id="rId4"/>
              </a:rPr>
              <a:t>https://github.com/gaospecial/ggVennDiagram</a:t>
            </a:r>
            <a:r>
              <a:rPr/>
              <a:t>.</a:t>
            </a:r>
          </a:p>
          <a:p>
            <a:pPr lvl="0" indent="0" marL="0">
              <a:buNone/>
            </a:pPr>
            <a:r>
              <a:rPr/>
              <a:t>Ho, Chi-Sing, Neal Jean, Catherine A. Hogan, Lena Blackmon, Stefanie S. Jeffrey, Mark Holodniy, Niaz Banaei, Amr A. E. Saleh, Stefano Ermon, and Jennifer Dionne. 2019. “Rapid Identification of Pathogenic Bacteria Using Raman Spectroscopy and Deep Learning.” </a:t>
            </a:r>
            <a:r>
              <a:rPr i="1"/>
              <a:t>Nature Communications</a:t>
            </a:r>
            <a:r>
              <a:rPr/>
              <a:t> 10 (1): 4927. </a:t>
            </a:r>
            <a:r>
              <a:rPr>
                <a:hlinkClick r:id="rId5"/>
              </a:rPr>
              <a:t>https://doi.org/10.1038/s41467-019-12898-9</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46</Words>
  <Application>Microsoft Macintosh PowerPoint</Application>
  <PresentationFormat>全屏显示(16:9)</PresentationFormat>
  <Paragraphs>14</Paragraphs>
  <Slides>4</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Microsoft YaHei</vt: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课程简介</dc:title>
  <dc:creator>Huaqing Liu</dc:creator>
  <cp:keywords/>
  <dcterms:created xsi:type="dcterms:W3CDTF">2026-02-10T06:22:44Z</dcterms:created>
  <dcterms:modified xsi:type="dcterms:W3CDTF">2026-02-10T06:22:44Z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
  </property>
  <property fmtid="{D5CDD505-2E9C-101B-9397-08002B2CF9AE}" pid="5" name="by-author">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