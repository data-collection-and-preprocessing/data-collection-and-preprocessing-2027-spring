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776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7" Type="http://schemas.openxmlformats.org/officeDocument/2006/relationships/viewProps" Target="viewProps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9" Type="http://schemas.openxmlformats.org/officeDocument/2006/relationships/tableStyles" Target="tableStyles.xml" /><Relationship Id="rId1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charset="-122" panose="020B0503020204020204" pitchFamily="34" typeface="Microsoft YaHei"/>
                <a:ea charset="-122" panose="020B0503020204020204" pitchFamily="34" typeface="Microsoft YaHei"/>
              </a:defRPr>
            </a:lvl1pPr>
          </a:lstStyle>
          <a:p>
            <a:fld id="{241EB5C9-1307-BA42-ABA2-0BC069CD8E7F}" type="datetimeFigureOut">
              <a:rPr lang="en-US" smtClean="0"/>
              <a:pPr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charset="-122" panose="020B0503020204020204" pitchFamily="34" typeface="Microsoft YaHei"/>
                <a:ea charset="-122" panose="020B0503020204020204" pitchFamily="34" typeface="Microsoft YaHei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charset="-122" panose="020B0503020204020204" pitchFamily="34" typeface="Microsoft YaHei"/>
                <a:ea charset="-122" panose="020B0503020204020204" pitchFamily="34" typeface="Microsoft YaHei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生态学公共数据获取方法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Huaqing Liu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0205 生态学公共数据获取方法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教材章节：0205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本章学习目标</a:t>
            </a:r>
          </a:p>
          <a:p>
            <a:pPr lvl="0"/>
            <a:r>
              <a:rPr/>
              <a:t>理解 生态学四大类公共数据资源（生物多样性、遥感、气候、分子）的特点与来源</a:t>
            </a:r>
          </a:p>
          <a:p>
            <a:pPr lvl="0"/>
            <a:r>
              <a:rPr/>
              <a:t>掌握 公共数据的主要获取方式（网页门户、API、元数据字典、网络爬虫）</a:t>
            </a:r>
          </a:p>
          <a:p>
            <a:pPr lvl="0"/>
            <a:r>
              <a:rPr/>
              <a:t>了解 数据使用伦理（引用规范、CC 许可协议）和质量挑战</a:t>
            </a:r>
          </a:p>
          <a:p>
            <a:pPr lvl="0"/>
            <a:r>
              <a:rPr/>
              <a:t>能够应用 R 包 rgbif 获取 GBIF 物种分布数据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内容概览</a:t>
            </a:r>
          </a:p>
          <a:p>
            <a:pPr lvl="0" indent="-342900" marL="342900">
              <a:buAutoNum type="arabicPeriod"/>
            </a:pPr>
            <a:r>
              <a:rPr b="1"/>
              <a:t>第一节</a:t>
            </a:r>
            <a:r>
              <a:rPr/>
              <a:t>：四大类公共数据资源</a:t>
            </a:r>
          </a:p>
          <a:p>
            <a:pPr lvl="0" indent="-342900" marL="342900">
              <a:buAutoNum type="arabicPeriod"/>
            </a:pPr>
            <a:r>
              <a:rPr b="1"/>
              <a:t>第二节</a:t>
            </a:r>
            <a:r>
              <a:rPr/>
              <a:t>：公共数据获取方式</a:t>
            </a:r>
          </a:p>
          <a:p>
            <a:pPr lvl="0" indent="-342900" marL="342900">
              <a:buAutoNum type="arabicPeriod"/>
            </a:pPr>
            <a:r>
              <a:rPr b="1"/>
              <a:t>第三节</a:t>
            </a:r>
            <a:r>
              <a:rPr/>
              <a:t>：数据使用伦理与许可</a:t>
            </a:r>
          </a:p>
          <a:p>
            <a:pPr lvl="0" indent="-342900" marL="342900">
              <a:buAutoNum type="arabicPeriod"/>
            </a:pPr>
            <a:r>
              <a:rPr b="1"/>
              <a:t>第四节</a:t>
            </a:r>
            <a:r>
              <a:rPr/>
              <a:t>：公共数据的质量挑战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核心概念</a:t>
            </a:r>
          </a:p>
          <a:p>
            <a:pPr lvl="0"/>
            <a:r>
              <a:rPr b="1"/>
              <a:t>概念一</a:t>
            </a:r>
            <a:r>
              <a:rPr/>
              <a:t>：GBIF（Global Biodiversity Information Facility）：全球最大的开放生物多样性数据平台，汇集超过 20 亿条物种出现记录</a:t>
            </a:r>
          </a:p>
          <a:p>
            <a:pPr lvl="0"/>
            <a:r>
              <a:rPr b="1"/>
              <a:t>概念二</a:t>
            </a:r>
            <a:r>
              <a:rPr/>
              <a:t>：API（Application Programming Interface）：允许程序自动化访问数据库的编程接口，是大规模数据获取的关键工具</a:t>
            </a:r>
          </a:p>
          <a:p>
            <a:pPr lvl="0"/>
            <a:r>
              <a:rPr b="1"/>
              <a:t>概念三</a:t>
            </a:r>
            <a:r>
              <a:rPr/>
              <a:t>：元数据字典（Metadata Dictionary）：描述数据集中每个字段的含义、类型、取值范围和单位的文档，是正确使用公共数据的前提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使用公共数据前务必阅读元数据字典和数据使用协议，避免误用和违规。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四大类公共数据资源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数据类型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主要平台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数据内容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典型用途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生物多样性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GBIF, iNaturalist, OBIS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物种出现记录、标本数据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物种分布建模、多样性分析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遥感数据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Landsat, MODIS, GEE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地表反射率、植被指数、地表温度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土地覆盖变化、植被动态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气候数据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WorldClim, CRU, ERA5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温度、降水、辐射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物种分布模型、气候变化影响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分子数据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GenBank, BOLD, UniProt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DNA序列、蛋白质序列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系统发育、种群遗传学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公共数据获取方式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获取方式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适用场景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优势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工具示例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网页门户（Web Portal）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小规模、探索性下载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可视化界面，上手容易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GBIF.org, EarthExplorer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API 编程接口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大规模、自动化获取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可重复、可批量处理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rgbif, rnoaa, spocc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元数据/数据字典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理解数据结构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避免误用字段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Darwin Core 标准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网络爬虫（Web Scraping）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无 API 的网站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灵活获取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rvest, httr2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常用工具与方法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类别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工具/方法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用途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生物多样性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rgbif / spocc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GBIF 数据下载与物种出现记录整合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遥感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rgee / terra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Google Earth Engine 接口与栅格数据处理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气候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geodata / rnoaa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WorldClim 生物气候变量与 NOAA 气象数据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分子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rentrez / seqinr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GenBank 序列检索与分析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爬虫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rvest / httr2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网页数据提取与 HTTP 请求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代码示例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#| eval: false</a:t>
            </a:r>
            <a:br/>
            <a:r>
              <a:rPr>
                <a:solidFill>
                  <a:srgbClr val="06287E"/>
                </a:solidFill>
                <a:latin typeface="Courier"/>
              </a:rPr>
              <a:t>library</a:t>
            </a:r>
            <a:r>
              <a:rPr>
                <a:latin typeface="Courier"/>
              </a:rPr>
              <a:t>(rgbif)</a:t>
            </a:r>
            <a:br/>
            <a:r>
              <a:rPr>
                <a:solidFill>
                  <a:srgbClr val="06287E"/>
                </a:solidFill>
                <a:latin typeface="Courier"/>
              </a:rPr>
              <a:t>library</a:t>
            </a:r>
            <a:r>
              <a:rPr>
                <a:latin typeface="Courier"/>
              </a:rPr>
              <a:t>(tibble)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从 GBIF 获取大熊猫分布记录</a:t>
            </a:r>
            <a:br/>
            <a:r>
              <a:rPr>
                <a:latin typeface="Courier"/>
              </a:rPr>
              <a:t>panda_records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occ_search</a:t>
            </a:r>
            <a:r>
              <a:rPr>
                <a:latin typeface="Courier"/>
              </a:rPr>
              <a:t>(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scientificName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"Ailuropoda melanoleuca"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hasCoordinate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limit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500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fields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"species"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"decimalLatitude"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"decimalLongitude"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         </a:t>
            </a:r>
            <a:r>
              <a:rPr>
                <a:solidFill>
                  <a:srgbClr val="4070A0"/>
                </a:solidFill>
                <a:latin typeface="Courier"/>
              </a:rPr>
              <a:t>"country"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"year"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"basisOfRecord"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转换为 tibble 并查看</a:t>
            </a:r>
            <a:br/>
            <a:r>
              <a:rPr>
                <a:latin typeface="Courier"/>
              </a:rPr>
              <a:t>panda_data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as_tibble</a:t>
            </a:r>
            <a:r>
              <a:rPr>
                <a:latin typeface="Courier"/>
              </a:rPr>
              <a:t>(panda_records</a:t>
            </a:r>
            <a:r>
              <a:rPr>
                <a:solidFill>
                  <a:srgbClr val="4070A0"/>
                </a:solidFill>
                <a:latin typeface="Courier"/>
              </a:rPr>
              <a:t>$</a:t>
            </a:r>
            <a:r>
              <a:rPr>
                <a:latin typeface="Courier"/>
              </a:rPr>
              <a:t>data)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glimpse</a:t>
            </a:r>
            <a:r>
              <a:rPr>
                <a:latin typeface="Courier"/>
              </a:rPr>
              <a:t>(panda_data)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基本质量检查</a:t>
            </a:r>
            <a:br/>
            <a:r>
              <a:rPr>
                <a:latin typeface="Courier"/>
              </a:rPr>
              <a:t>panda_clean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panda_data </a:t>
            </a:r>
            <a:r>
              <a:rPr>
                <a:solidFill>
                  <a:srgbClr val="4070A0"/>
                </a:solidFill>
                <a:latin typeface="Courier"/>
              </a:rPr>
              <a:t>|&gt;</a:t>
            </a:r>
            <a:br/>
            <a:r>
              <a:rPr>
                <a:latin typeface="Courier"/>
              </a:rPr>
              <a:t>  dplyr</a:t>
            </a:r>
            <a:r>
              <a:rPr>
                <a:solidFill>
                  <a:srgbClr val="4070A0"/>
                </a:solidFill>
                <a:latin typeface="Courier"/>
              </a:rPr>
              <a:t>::</a:t>
            </a:r>
            <a:r>
              <a:rPr>
                <a:solidFill>
                  <a:srgbClr val="06287E"/>
                </a:solidFill>
                <a:latin typeface="Courier"/>
              </a:rPr>
              <a:t>filter</a:t>
            </a:r>
            <a:r>
              <a:rPr>
                <a:latin typeface="Courier"/>
              </a:rPr>
              <a:t>(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!</a:t>
            </a:r>
            <a:r>
              <a:rPr>
                <a:solidFill>
                  <a:srgbClr val="06287E"/>
                </a:solidFill>
                <a:latin typeface="Courier"/>
              </a:rPr>
              <a:t>is.na</a:t>
            </a:r>
            <a:r>
              <a:rPr>
                <a:latin typeface="Courier"/>
              </a:rPr>
              <a:t>(decimalLatitude),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!</a:t>
            </a:r>
            <a:r>
              <a:rPr>
                <a:solidFill>
                  <a:srgbClr val="06287E"/>
                </a:solidFill>
                <a:latin typeface="Courier"/>
              </a:rPr>
              <a:t>is.na</a:t>
            </a:r>
            <a:r>
              <a:rPr>
                <a:latin typeface="Courier"/>
              </a:rPr>
              <a:t>(decimalLongitude),</a:t>
            </a:r>
            <a:br/>
            <a:r>
              <a:rPr>
                <a:latin typeface="Courier"/>
              </a:rPr>
              <a:t>    decimalLatitude </a:t>
            </a:r>
            <a:r>
              <a:rPr>
                <a:solidFill>
                  <a:srgbClr val="4070A0"/>
                </a:solidFill>
                <a:latin typeface="Courier"/>
              </a:rPr>
              <a:t>!=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decimalLongitude </a:t>
            </a:r>
            <a:r>
              <a:rPr>
                <a:solidFill>
                  <a:srgbClr val="4070A0"/>
                </a:solidFill>
                <a:latin typeface="Courier"/>
              </a:rPr>
              <a:t>!=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year </a:t>
            </a:r>
            <a:r>
              <a:rPr>
                <a:solidFill>
                  <a:srgbClr val="4070A0"/>
                </a:solidFill>
                <a:latin typeface="Courier"/>
              </a:rPr>
              <a:t>&gt;=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2000</a:t>
            </a:r>
            <a:br/>
            <a:r>
              <a:rPr>
                <a:latin typeface="Courier"/>
              </a:rPr>
              <a:t>  )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cat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"原始记录数:"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06287E"/>
                </a:solidFill>
                <a:latin typeface="Courier"/>
              </a:rPr>
              <a:t>nrow</a:t>
            </a:r>
            <a:r>
              <a:rPr>
                <a:latin typeface="Courier"/>
              </a:rPr>
              <a:t>(panda_data), </a:t>
            </a:r>
            <a:r>
              <a:rPr>
                <a:solidFill>
                  <a:srgbClr val="4070A0"/>
                </a:solidFill>
                <a:latin typeface="Courier"/>
              </a:rPr>
              <a:t>"\n"</a:t>
            </a:r>
            <a:r>
              <a:rPr>
                <a:latin typeface="Courier"/>
              </a:rPr>
              <a:t>)</a:t>
            </a:r>
            <a:br/>
            <a:r>
              <a:rPr>
                <a:solidFill>
                  <a:srgbClr val="06287E"/>
                </a:solidFill>
                <a:latin typeface="Courier"/>
              </a:rPr>
              <a:t>cat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"清洗后记录数:"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06287E"/>
                </a:solidFill>
                <a:latin typeface="Courier"/>
              </a:rPr>
              <a:t>nrow</a:t>
            </a:r>
            <a:r>
              <a:rPr>
                <a:latin typeface="Courier"/>
              </a:rPr>
              <a:t>(panda_clean), </a:t>
            </a:r>
            <a:r>
              <a:rPr>
                <a:solidFill>
                  <a:srgbClr val="4070A0"/>
                </a:solidFill>
                <a:latin typeface="Courier"/>
              </a:rPr>
              <a:t>"\n"</a:t>
            </a:r>
            <a:r>
              <a:rPr>
                <a:latin typeface="Courier"/>
              </a:rPr>
              <a:t>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实践要点</a:t>
            </a:r>
          </a:p>
          <a:p>
            <a:pPr lvl="0"/>
            <a:r>
              <a:rPr b="1"/>
              <a:t>要点一</a:t>
            </a:r>
            <a:r>
              <a:rPr/>
              <a:t>：使用公共数据必须引用数据来源，GBIF 提供标准引用格式（DOI），下载时记录 download key</a:t>
            </a:r>
          </a:p>
          <a:p>
            <a:pPr lvl="0"/>
            <a:r>
              <a:rPr b="1"/>
              <a:t>要点二</a:t>
            </a:r>
            <a:r>
              <a:rPr/>
              <a:t>：注意 CC 许可协议的差异：CC0（无限制）、CC-BY（需署名）、CC-BY-NC（非商业）</a:t>
            </a:r>
          </a:p>
          <a:p>
            <a:pPr lvl="0"/>
            <a:r>
              <a:rPr b="1"/>
              <a:t>要点三</a:t>
            </a:r>
            <a:r>
              <a:rPr/>
              <a:t>：公共数据存在系统性偏差（如分类偏差、空间偏差），分析前需评估并在论文中讨论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/>
              <a:t>养成为每次数据下载记录日期、查询参数和数据版本的习惯，这是可重复研究的基本要求。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常见问题与解答</a:t>
            </a:r>
          </a:p>
          <a:p>
            <a:pPr lvl="0" indent="0" marL="0">
              <a:buNone/>
            </a:pPr>
            <a:r>
              <a:rPr b="1"/>
              <a:t>Q1</a:t>
            </a:r>
            <a:r>
              <a:rPr/>
              <a:t>：GBIF 数据中常见哪些质量问题？</a:t>
            </a:r>
          </a:p>
          <a:p>
            <a:pPr lvl="0" indent="0" marL="0">
              <a:buNone/>
            </a:pPr>
            <a:r>
              <a:rPr b="1"/>
              <a:t>A1</a:t>
            </a:r>
            <a:r>
              <a:rPr/>
              <a:t>：常见问题包括：(1) 坐标错误（如经纬度颠倒、落入海洋的陆生物种记录）；(2) 分类学不一致（同物异名、过时学名）；(3) 采样偏差（靠近公路和城市的记录过多，偏远地区覆盖不足）。建议使用 CoordinateCleaner 包进行系统清洗。</a:t>
            </a:r>
          </a:p>
          <a:p>
            <a:pPr lvl="0" indent="0" marL="0">
              <a:buNone/>
            </a:pPr>
            <a:r>
              <a:rPr b="1"/>
              <a:t>Q2</a:t>
            </a:r>
            <a:r>
              <a:rPr/>
              <a:t>：如何处理不同公共数据集之间空间分辨率不一致的问题？</a:t>
            </a:r>
          </a:p>
          <a:p>
            <a:pPr lvl="0" indent="0" marL="0">
              <a:buNone/>
            </a:pPr>
            <a:r>
              <a:rPr b="1"/>
              <a:t>A2</a:t>
            </a:r>
            <a:r>
              <a:rPr/>
              <a:t>：需要进行空间重采样（resampling）。通常以研究中最粗分辨率的数据集为准，将高分辨率数据聚合到同一网格。R 中可使用 terra 包的 </a:t>
            </a:r>
            <a:r>
              <a:rPr>
                <a:latin typeface="Courier"/>
              </a:rPr>
              <a:t>resample()</a:t>
            </a:r>
            <a:r>
              <a:rPr/>
              <a:t> 和 </a:t>
            </a:r>
            <a:r>
              <a:rPr>
                <a:latin typeface="Courier"/>
              </a:rPr>
              <a:t>aggregate()</a:t>
            </a:r>
            <a:r>
              <a:rPr/>
              <a:t> 函数完成。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本章小结</a:t>
            </a:r>
          </a:p>
          <a:p>
            <a:pPr lvl="0" indent="-342900" marL="342900">
              <a:buAutoNum type="arabicPeriod"/>
            </a:pPr>
            <a:r>
              <a:rPr/>
              <a:t>生态学公共数据涵盖生物多样性、遥感、气候、分子四大类，极大拓展了研究的时空范围</a:t>
            </a:r>
          </a:p>
          <a:p>
            <a:pPr lvl="0" indent="-342900" marL="342900">
              <a:buAutoNum type="arabicPeriod"/>
            </a:pPr>
            <a:r>
              <a:rPr/>
              <a:t>API 编程接口是大规模、可重复获取公共数据的推荐方式，优于手动下载</a:t>
            </a:r>
          </a:p>
          <a:p>
            <a:pPr lvl="0" indent="-342900" marL="342900">
              <a:buAutoNum type="arabicPeriod"/>
            </a:pPr>
            <a:r>
              <a:rPr/>
              <a:t>使用公共数据必须注意引用规范、许可协议，并充分评估数据质量偏差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课后任务</a:t>
            </a:r>
          </a:p>
          <a:p>
            <a:pPr lvl="0"/>
            <a:r>
              <a:rPr/>
              <a:t>用 rgbif 包下载你研究物种的 GBIF 分布数据，并进行基本质量检查</a:t>
            </a:r>
          </a:p>
          <a:p>
            <a:pPr lvl="0"/>
            <a:r>
              <a:rPr/>
              <a:t>比较同一区域在 WorldClim 和 CRU 两个气候数据集中温度数据的差异</a:t>
            </a:r>
          </a:p>
          <a:p>
            <a:pPr lvl="0"/>
            <a:r>
              <a:rPr b="1"/>
              <a:t>选做</a:t>
            </a:r>
            <a:r>
              <a:rPr/>
              <a:t>：尝试用 rvest 包爬取一个生态学相关数据网站的表格数据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延伸阅读</a:t>
            </a:r>
          </a:p>
          <a:p>
            <a:pPr lvl="0"/>
            <a:r>
              <a:rPr/>
              <a:t>Zizka et al. 2019, </a:t>
            </a:r>
            <a:r>
              <a:rPr i="1"/>
              <a:t>Methods in Ecology and Evolution</a:t>
            </a:r>
            <a:r>
              <a:rPr/>
              <a:t> - CoordinateCleaner：GBIF 数据清洗 R 包</a:t>
            </a:r>
          </a:p>
          <a:p>
            <a:pPr lvl="0"/>
            <a:r>
              <a:rPr/>
              <a:t>Fick &amp; Hijmans 2017, </a:t>
            </a:r>
            <a:r>
              <a:rPr i="1"/>
              <a:t>International Journal of Climatology</a:t>
            </a:r>
            <a:r>
              <a:rPr/>
              <a:t> - WorldClim 2：新一代全球气候数据</a:t>
            </a:r>
          </a:p>
          <a:p>
            <a:pPr lvl="0"/>
            <a:r>
              <a:rPr/>
              <a:t>Chamberlain &amp; Boettiger 2017, </a:t>
            </a:r>
            <a:r>
              <a:rPr i="1"/>
              <a:t>R Journal</a:t>
            </a:r>
            <a:r>
              <a:rPr/>
              <a:t> - R 语言生物多样性数据获取工具综述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46</Words>
  <Application>Microsoft Macintosh PowerPoint</Application>
  <PresentationFormat>全屏显示(16:9)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Microsoft YaHei</vt:lpstr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生态学公共数据获取方法</dc:title>
  <dc:creator>Huaqing Liu</dc:creator>
  <cp:keywords/>
  <dcterms:created xsi:type="dcterms:W3CDTF">2026-03-31T08:55:23Z</dcterms:created>
  <dcterms:modified xsi:type="dcterms:W3CDTF">2026-03-31T08:55:23Z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ibliography">
    <vt:lpwstr/>
  </property>
  <property fmtid="{D5CDD505-2E9C-101B-9397-08002B2CF9AE}" pid="5" name="by-author">
    <vt:lpwstr/>
  </property>
  <property fmtid="{D5CDD505-2E9C-101B-9397-08002B2CF9AE}" pid="6" name="engines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toc-title">
    <vt:lpwstr>Table of contents</vt:lpwstr>
  </property>
</Properties>
</file>