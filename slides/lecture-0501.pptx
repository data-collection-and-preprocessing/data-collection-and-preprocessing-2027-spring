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gplot2-book.org/" TargetMode="External" /><Relationship Id="rId3" Type="http://schemas.openxmlformats.org/officeDocument/2006/relationships/hyperlink" Target="https://clauswilke.com/dataviz/" TargetMode="External" /><Relationship Id="rId4" Type="http://schemas.openxmlformats.org/officeDocument/2006/relationships/hyperlink" Target="https://patchwork.data-imaginist.com/" TargetMode="External" /><Relationship Id="rId5" Type="http://schemas.openxmlformats.org/officeDocument/2006/relationships/hyperlink" Target="https://cran.r-project.org/web/packages/viridis/vignettes/intro-to-viridis.html" TargetMode="External" /><Relationship Id="rId6" Type="http://schemas.openxmlformats.org/officeDocument/2006/relationships/hyperlink" Target="https://r-graph-gallery.com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数据可视化基础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0501 数据可视化基础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教材章节：0501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ggplot2 图形语法（Grammar of Graphics）的核心思想与分层构建逻辑</a:t>
            </a:r>
          </a:p>
          <a:p>
            <a:pPr lvl="0"/>
            <a:r>
              <a:rPr/>
              <a:t>掌握 </a:t>
            </a:r>
            <a:r>
              <a:rPr>
                <a:latin typeface="Courier"/>
              </a:rPr>
              <a:t>aes()</a:t>
            </a:r>
            <a:r>
              <a:rPr/>
              <a:t> 映射与固定属性的区别，能正确将数据变量映射到图形属性</a:t>
            </a:r>
          </a:p>
          <a:p>
            <a:pPr lvl="0"/>
            <a:r>
              <a:rPr/>
              <a:t>熟练运用常见图表类型（散点图、箱线图、直方图、密度图、柱状图、热力图）展示数据</a:t>
            </a:r>
          </a:p>
          <a:p>
            <a:pPr lvl="0"/>
            <a:r>
              <a:rPr/>
              <a:t>掌握出版级图表的定制方法，包括自定义主题、多面板拼图与高质量导出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/>
              <a:t>ggplot2 图形语法：六层结构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aes()</a:t>
            </a:r>
            <a:r>
              <a:rPr/>
              <a:t> 映射 vs 固定属性</a:t>
            </a:r>
          </a:p>
          <a:p>
            <a:pPr lvl="0" indent="-342900" marL="342900">
              <a:buAutoNum type="arabicPeriod"/>
            </a:pPr>
            <a:r>
              <a:rPr/>
              <a:t>常用图表类型与适用场景</a:t>
            </a:r>
          </a:p>
          <a:p>
            <a:pPr lvl="0" indent="-342900" marL="342900">
              <a:buAutoNum type="arabicPeriod"/>
            </a:pPr>
            <a:r>
              <a:rPr/>
              <a:t>出版级图表定制</a:t>
            </a:r>
          </a:p>
          <a:p>
            <a:pPr lvl="0" indent="-342900" marL="342900">
              <a:buAutoNum type="arabicPeriod"/>
            </a:pPr>
            <a:r>
              <a:rPr/>
              <a:t>图表导出与分辨率要求</a:t>
            </a:r>
          </a:p>
          <a:p>
            <a:pPr lvl="0" indent="-342900" marL="342900">
              <a:buAutoNum type="arabicPeriod"/>
            </a:pPr>
            <a:r>
              <a:rPr/>
              <a:t>色盲友好配色方案</a:t>
            </a:r>
          </a:p>
          <a:p>
            <a:pPr lvl="0" indent="-342900" marL="342900">
              <a:buAutoNum type="arabicPeriod"/>
            </a:pPr>
            <a:r>
              <a:rPr/>
              <a:t>图表类型选择指南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 indent="0" marL="1270000">
              <a:buNone/>
            </a:pPr>
            <a:r>
              <a:rPr sz="2000" b="1"/>
              <a:t>图形语法（Grammar of Graphics）</a:t>
            </a:r>
          </a:p>
          <a:p>
            <a:pPr lvl="0" indent="0" marL="1270000">
              <a:buNone/>
            </a:pPr>
            <a:r>
              <a:rPr sz="2000"/>
              <a:t>ggplot2 的核心理念：图形 = </a:t>
            </a:r>
            <a:r>
              <a:rPr sz="2000" b="1"/>
              <a:t>数据（data）</a:t>
            </a:r>
            <a:r>
              <a:rPr sz="2000"/>
              <a:t> + </a:t>
            </a:r>
            <a:r>
              <a:rPr sz="2000" b="1"/>
              <a:t>美学映射（aes）</a:t>
            </a:r>
            <a:r>
              <a:rPr sz="2000"/>
              <a:t> + </a:t>
            </a:r>
            <a:r>
              <a:rPr sz="2000" b="1"/>
              <a:t>几何对象（geom）</a:t>
            </a:r>
            <a:r>
              <a:rPr sz="2000"/>
              <a:t> + </a:t>
            </a:r>
            <a:r>
              <a:rPr sz="2000" b="1"/>
              <a:t>标度（scale）</a:t>
            </a:r>
            <a:r>
              <a:rPr sz="2000"/>
              <a:t> + </a:t>
            </a:r>
            <a:r>
              <a:rPr sz="2000" b="1"/>
              <a:t>标签（labs）</a:t>
            </a:r>
            <a:r>
              <a:rPr sz="2000"/>
              <a:t> + </a:t>
            </a:r>
            <a:r>
              <a:rPr sz="2000" b="1"/>
              <a:t>主题（theme）</a:t>
            </a:r>
            <a:r>
              <a:rPr sz="2000"/>
              <a:t>。每一层独立控制，组合构建完整图形。</a:t>
            </a:r>
          </a:p>
          <a:p>
            <a:pPr lvl="0" indent="0" marL="1270000">
              <a:buNone/>
            </a:pPr>
            <a:r>
              <a:rPr sz="2000" b="1"/>
              <a:t>美学映射（Aesthetic Mapping）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aes()</a:t>
            </a:r>
            <a:r>
              <a:rPr sz="2000"/>
              <a:t> 将数据变量映射到视觉属性（x轴、y轴、颜色、形状、大小等）。</a:t>
            </a:r>
            <a:r>
              <a:rPr sz="2000" b="1"/>
              <a:t>数据驱动的属性</a:t>
            </a:r>
            <a:r>
              <a:rPr sz="2000"/>
              <a:t>放在 </a:t>
            </a:r>
            <a:r>
              <a:rPr sz="2000">
                <a:latin typeface="Courier"/>
              </a:rPr>
              <a:t>aes()</a:t>
            </a:r>
            <a:r>
              <a:rPr sz="2000"/>
              <a:t> 内，</a:t>
            </a:r>
            <a:r>
              <a:rPr sz="2000" b="1"/>
              <a:t>固定属性</a:t>
            </a:r>
            <a:r>
              <a:rPr sz="2000"/>
              <a:t>放在 </a:t>
            </a:r>
            <a:r>
              <a:rPr sz="2000">
                <a:latin typeface="Courier"/>
              </a:rPr>
              <a:t>aes()</a:t>
            </a:r>
            <a:r>
              <a:rPr sz="2000"/>
              <a:t> 外。</a:t>
            </a:r>
          </a:p>
          <a:p>
            <a:pPr lvl="0" indent="0" marL="1270000">
              <a:buNone/>
            </a:pPr>
            <a:r>
              <a:rPr sz="2000" b="1"/>
              <a:t>图层叠加（Layering）</a:t>
            </a:r>
          </a:p>
          <a:p>
            <a:pPr lvl="0" indent="0" marL="1270000">
              <a:buNone/>
            </a:pPr>
            <a:r>
              <a:rPr sz="2000"/>
              <a:t>ggplot2 通过 </a:t>
            </a:r>
            <a:r>
              <a:rPr sz="2000">
                <a:latin typeface="Courier"/>
              </a:rPr>
              <a:t>+</a:t>
            </a:r>
            <a:r>
              <a:rPr sz="2000"/>
              <a:t> 运算符逐层叠加图形元素。每一层可以有独立的数据源和映射，实现复杂图形的灵活构建。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ggplot() + aes()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初始化画布与映射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所有 ggplot2 图形的起点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geom_point()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散点图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两个连续变量的关系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geom_boxplot()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箱线图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分组比较与离群值识别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geom_histogram()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直方图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单变量分布形态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geom_density()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密度曲线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平滑分布估计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geom_col()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柱状图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分类汇总数据展示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geom_tile()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热力图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矩阵数据或相关系数展示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scale_color_viridis_d()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色盲友好离散配色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分类变量着色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patchwork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多面板拼图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组合多个子图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ggsave()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导出图片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PDF/PNG/TIFF 多格式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代码示例：ggplot2 图形语法六层结构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代码示例：aes() 映射 vs 固定属性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代码示例：常用图表类型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代码示例：柱状图与热力图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代码示例：出版级图表定制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图表类型选择指南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研究问题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推荐图表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ggplot2 函数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连续 vs 连续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两变量关系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散点图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geom_point() + geom_smooth()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分类 vs 连续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组间比较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箱线图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geom_boxplot() + geom_jitter()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单个连续变量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分布形态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直方图/密度图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geom_histogram()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geom_density()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分类汇总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均值比较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柱状图+误差棒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geom_col() + geom_errorbar()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矩阵数据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相关性/模式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热力图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geom_tile()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时间序列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趋势变化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折线图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geom_line()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多变量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综合展示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多面板拼图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facet_wrap()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patchwork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映射先于美化</a:t>
            </a:r>
            <a:r>
              <a:rPr/>
              <a:t>：先确保数据到图形属性的映射正确，再调整颜色、字体等视觉细节。错误的 </a:t>
            </a:r>
            <a:r>
              <a:rPr>
                <a:latin typeface="Courier"/>
              </a:rPr>
              <a:t>aes()</a:t>
            </a:r>
            <a:r>
              <a:rPr/>
              <a:t> 映射是初学者最常见的 bug 来源</a:t>
            </a:r>
          </a:p>
          <a:p>
            <a:pPr lvl="0"/>
            <a:r>
              <a:rPr b="1"/>
              <a:t>色盲友好是基本要求</a:t>
            </a:r>
            <a:r>
              <a:rPr/>
              <a:t>：始终使用 </a:t>
            </a:r>
            <a:r>
              <a:rPr>
                <a:latin typeface="Courier"/>
              </a:rPr>
              <a:t>viridis</a:t>
            </a:r>
            <a:r>
              <a:rPr/>
              <a:t> 系列配色（</a:t>
            </a:r>
            <a:r>
              <a:rPr>
                <a:latin typeface="Courier"/>
              </a:rPr>
              <a:t>scale_color_viridis_d()</a:t>
            </a:r>
            <a:r>
              <a:rPr/>
              <a:t> / </a:t>
            </a:r>
            <a:r>
              <a:rPr>
                <a:latin typeface="Courier"/>
              </a:rPr>
              <a:t>scale_color_viridis_c()</a:t>
            </a:r>
            <a:r>
              <a:rPr/>
              <a:t>），避免红绿配色方案。约 8% 的男性存在色觉障碍</a:t>
            </a:r>
          </a:p>
          <a:p>
            <a:pPr lvl="0"/>
            <a:r>
              <a:rPr b="1"/>
              <a:t>导出分辨率需达标</a:t>
            </a:r>
            <a:r>
              <a:rPr/>
              <a:t>：期刊投稿通常要求 300 DPI（线图）至 600 DPI（照片/热图）。使用 </a:t>
            </a:r>
            <a:r>
              <a:rPr>
                <a:latin typeface="Courier"/>
              </a:rPr>
              <a:t>ggsave()</a:t>
            </a:r>
            <a:r>
              <a:rPr/>
              <a:t> 时明确设置 </a:t>
            </a:r>
            <a:r>
              <a:rPr>
                <a:latin typeface="Courier"/>
              </a:rPr>
              <a:t>dpi</a:t>
            </a:r>
            <a:r>
              <a:rPr/>
              <a:t> 参数和物理尺寸（mm 或 inches）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Q1：</a:t>
            </a:r>
            <a:r>
              <a:rPr b="1">
                <a:latin typeface="Courier"/>
              </a:rPr>
              <a:t>aes(color = "blue")</a:t>
            </a:r>
            <a:r>
              <a:rPr b="1"/>
              <a:t> 为什么不显示蓝色？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aes()</a:t>
            </a:r>
            <a:r>
              <a:rPr sz="2000"/>
              <a:t> 内的参数会被解释为数据映射，</a:t>
            </a:r>
            <a:r>
              <a:rPr sz="2000">
                <a:latin typeface="Courier"/>
              </a:rPr>
              <a:t>"blue"</a:t>
            </a:r>
            <a:r>
              <a:rPr sz="2000"/>
              <a:t> 被当作一个字面量分类变量，ggplot2 会为其分配默认配色（通常是红色）。要设置固定颜色，应将 </a:t>
            </a:r>
            <a:r>
              <a:rPr sz="2000">
                <a:latin typeface="Courier"/>
              </a:rPr>
              <a:t>color = "blue"</a:t>
            </a:r>
            <a:r>
              <a:rPr sz="2000"/>
              <a:t> 放在 </a:t>
            </a:r>
            <a:r>
              <a:rPr sz="2000">
                <a:latin typeface="Courier"/>
              </a:rPr>
              <a:t>aes()</a:t>
            </a:r>
            <a:r>
              <a:rPr sz="2000"/>
              <a:t> 外部，例如 </a:t>
            </a:r>
            <a:r>
              <a:rPr sz="2000">
                <a:latin typeface="Courier"/>
              </a:rPr>
              <a:t>geom_point(color = "blue")</a:t>
            </a:r>
            <a:r>
              <a:rPr sz="2000"/>
              <a:t>。</a:t>
            </a:r>
          </a:p>
          <a:p>
            <a:pPr lvl="0" indent="0" marL="0">
              <a:buNone/>
            </a:pPr>
            <a:r>
              <a:rPr b="1"/>
              <a:t>Q2：如何在一张图中展示多个子图并添加 A/B/C 标签？</a:t>
            </a:r>
          </a:p>
          <a:p>
            <a:pPr lvl="0" indent="0" marL="1270000">
              <a:buNone/>
            </a:pPr>
            <a:r>
              <a:rPr sz="2000"/>
              <a:t>使用 </a:t>
            </a:r>
            <a:r>
              <a:rPr sz="2000">
                <a:latin typeface="Courier"/>
              </a:rPr>
              <a:t>patchwork</a:t>
            </a:r>
            <a:r>
              <a:rPr sz="2000"/>
              <a:t> 包：用 </a:t>
            </a:r>
            <a:r>
              <a:rPr sz="2000">
                <a:latin typeface="Courier"/>
              </a:rPr>
              <a:t>+</a:t>
            </a:r>
            <a:r>
              <a:rPr sz="2000"/>
              <a:t> 水平排列，用 </a:t>
            </a:r>
            <a:r>
              <a:rPr sz="2000">
                <a:latin typeface="Courier"/>
              </a:rPr>
              <a:t>/</a:t>
            </a:r>
            <a:r>
              <a:rPr sz="2000"/>
              <a:t> 垂直排列，用 </a:t>
            </a:r>
            <a:r>
              <a:rPr sz="2000">
                <a:latin typeface="Courier"/>
              </a:rPr>
              <a:t>plot_annotation(tag_levels = "A")</a:t>
            </a:r>
            <a:r>
              <a:rPr sz="2000"/>
              <a:t> 添加面板标签。例如 </a:t>
            </a:r>
            <a:r>
              <a:rPr sz="2000">
                <a:latin typeface="Courier"/>
              </a:rPr>
              <a:t>(p1 + p2) / p3 + plot_annotation(tag_levels = "A")</a:t>
            </a:r>
            <a:r>
              <a:rPr sz="2000"/>
              <a:t>。也可使用 </a:t>
            </a:r>
            <a:r>
              <a:rPr sz="2000">
                <a:latin typeface="Courier"/>
              </a:rPr>
              <a:t>facet_wrap()</a:t>
            </a:r>
            <a:r>
              <a:rPr sz="2000"/>
              <a:t> 或 </a:t>
            </a:r>
            <a:r>
              <a:rPr sz="2000">
                <a:latin typeface="Courier"/>
              </a:rPr>
              <a:t>facet_grid()</a:t>
            </a:r>
            <a:r>
              <a:rPr sz="2000"/>
              <a:t> 进行按变量分面。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 b="1"/>
              <a:t>图形语法是基础</a:t>
            </a:r>
            <a:r>
              <a:rPr/>
              <a:t>：ggplot2 的六层结构（data + aes + geom + scale + labs + theme）提供了系统化的图形构建框架，理解分层逻辑是高效绑图的前提</a:t>
            </a:r>
          </a:p>
          <a:p>
            <a:pPr lvl="0" indent="-342900" marL="342900">
              <a:buAutoNum type="arabicPeriod"/>
            </a:pPr>
            <a:r>
              <a:rPr b="1"/>
              <a:t>选择正确的图表类型</a:t>
            </a:r>
            <a:r>
              <a:rPr/>
              <a:t>：根据数据类型和研究问题选择合适的几何对象，散点图看关系、箱线图看分布比较、直方图看分布形态——图表选择错误会误导读者</a:t>
            </a:r>
          </a:p>
          <a:p>
            <a:pPr lvl="0" indent="-342900" marL="342900">
              <a:buAutoNum type="arabicPeriod"/>
            </a:pPr>
            <a:r>
              <a:rPr b="1"/>
              <a:t>出版级细节决定质量</a:t>
            </a:r>
            <a:r>
              <a:rPr/>
              <a:t>：自定义主题、色盲友好配色、正确的导出分辨率和物理尺寸，这些细节区分了”探索用图”和”发表用图”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 indent="-342900" marL="342900">
              <a:buAutoNum type="arabicPeriod"/>
            </a:pPr>
            <a:r>
              <a:rPr/>
              <a:t>使用 </a:t>
            </a:r>
            <a:r>
              <a:rPr>
                <a:latin typeface="Courier"/>
              </a:rPr>
              <a:t>palmerpenguins</a:t>
            </a:r>
            <a:r>
              <a:rPr/>
              <a:t> 数据集，为每种企鹅绘制体重与翅长的散点图（分物种着色，添加线性趋势线）</a:t>
            </a:r>
          </a:p>
          <a:p>
            <a:pPr lvl="0" indent="-342900" marL="342900">
              <a:buAutoNum type="arabicPeriod"/>
            </a:pPr>
            <a:r>
              <a:rPr/>
              <a:t>创建一个自定义主题函数 </a:t>
            </a:r>
            <a:r>
              <a:rPr>
                <a:latin typeface="Courier"/>
              </a:rPr>
              <a:t>theme_my()</a:t>
            </a:r>
            <a:r>
              <a:rPr/>
              <a:t>，设置你偏好的字体大小、轴线样式和图例位置</a:t>
            </a:r>
          </a:p>
          <a:p>
            <a:pPr lvl="0" indent="-342900" marL="342900">
              <a:buAutoNum type="arabicPeriod"/>
            </a:pPr>
            <a:r>
              <a:rPr/>
              <a:t>使用 </a:t>
            </a:r>
            <a:r>
              <a:rPr>
                <a:latin typeface="Courier"/>
              </a:rPr>
              <a:t>patchwork</a:t>
            </a:r>
            <a:r>
              <a:rPr/>
              <a:t> 将散点图、箱线图、密度图组合为三面板图，添加 A/B/C 标签</a:t>
            </a:r>
          </a:p>
          <a:p>
            <a:pPr lvl="0" indent="-342900" marL="342900">
              <a:buAutoNum type="arabicPeriod"/>
            </a:pPr>
            <a:r>
              <a:rPr/>
              <a:t>用 </a:t>
            </a:r>
            <a:r>
              <a:rPr>
                <a:latin typeface="Courier"/>
              </a:rPr>
              <a:t>ggsave()</a:t>
            </a:r>
            <a:r>
              <a:rPr/>
              <a:t> 将最终图形导出为 PDF（300 DPI）和 TIFF（600 DPI），宽度 180mm</a:t>
            </a:r>
          </a:p>
          <a:p>
            <a:pPr lvl="0" indent="-342900" marL="342900">
              <a:buAutoNum type="arabicPeriod"/>
            </a:pPr>
            <a:r>
              <a:rPr/>
              <a:t>阅读 viridis 配色文档，尝试使用不同的 </a:t>
            </a:r>
            <a:r>
              <a:rPr>
                <a:latin typeface="Courier"/>
              </a:rPr>
              <a:t>option</a:t>
            </a:r>
            <a:r>
              <a:rPr/>
              <a:t> 参数（“A” 到 “H”）比较视觉效果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Wickham, H. (2016). </a:t>
            </a:r>
            <a:r>
              <a:rPr i="1"/>
              <a:t>ggplot2: Elegant Graphics for Data Analysis</a:t>
            </a:r>
            <a:r>
              <a:rPr/>
              <a:t>. Springer. </a:t>
            </a:r>
            <a:r>
              <a:rPr>
                <a:hlinkClick r:id="rId2"/>
              </a:rPr>
              <a:t>https://ggplot2-book.org/</a:t>
            </a:r>
          </a:p>
          <a:p>
            <a:pPr lvl="0"/>
            <a:r>
              <a:rPr/>
              <a:t>Wilke, C. O. (2019). </a:t>
            </a:r>
            <a:r>
              <a:rPr i="1"/>
              <a:t>Fundamentals of Data Visualization</a:t>
            </a:r>
            <a:r>
              <a:rPr/>
              <a:t>. O’Reilly. </a:t>
            </a:r>
            <a:r>
              <a:rPr>
                <a:hlinkClick r:id="rId3"/>
              </a:rPr>
              <a:t>https://clauswilke.com/dataviz/</a:t>
            </a:r>
          </a:p>
          <a:p>
            <a:pPr lvl="0"/>
            <a:r>
              <a:rPr>
                <a:latin typeface="Courier"/>
              </a:rPr>
              <a:t>patchwork</a:t>
            </a:r>
            <a:r>
              <a:rPr/>
              <a:t> 官方文档：</a:t>
            </a:r>
            <a:r>
              <a:rPr>
                <a:hlinkClick r:id="rId4"/>
              </a:rPr>
              <a:t>https://patchwork.data-imaginist.com/</a:t>
            </a:r>
          </a:p>
          <a:p>
            <a:pPr lvl="0"/>
            <a:r>
              <a:rPr/>
              <a:t>viridis 配色方案说明：</a:t>
            </a:r>
            <a:r>
              <a:rPr>
                <a:hlinkClick r:id="rId5"/>
              </a:rPr>
              <a:t>https://cran.r-project.org/web/packages/viridis/vignettes/intro-to-viridis.html</a:t>
            </a:r>
          </a:p>
          <a:p>
            <a:pPr lvl="0"/>
            <a:r>
              <a:rPr/>
              <a:t>R Graph Gallery（图表类型速查）：</a:t>
            </a:r>
            <a:r>
              <a:rPr>
                <a:hlinkClick r:id="rId6"/>
              </a:rPr>
              <a:t>https://r-graph-gallery.com/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数据可视化基础</dc:title>
  <dc:creator>Huaqing Liu</dc:creator>
  <cp:keywords/>
  <dcterms:created xsi:type="dcterms:W3CDTF">2026-03-31T08:55:41Z</dcterms:created>
  <dcterms:modified xsi:type="dcterms:W3CDTF">2026-03-31T08:55:41Z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