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776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fld id="{241EB5C9-1307-BA42-ABA2-0BC069CD8E7F}" type="datetimeFigureOut">
              <a:rPr lang="en-US" smtClean="0"/>
              <a:pPr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ata-collection-and-preprocessing.github.io/Data-collection-and-preprocessing-2027-Spring/lectures/lecture-0104.html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r-project.org/" TargetMode="External" /><Relationship Id="rId3" Type="http://schemas.openxmlformats.org/officeDocument/2006/relationships/hyperlink" Target="https://posit.co/downloads/" TargetMode="External" /><Relationship Id="rId4" Type="http://schemas.openxmlformats.org/officeDocument/2006/relationships/hyperlink" Target="https://docs.conda.io/" TargetMode="External" /><Relationship Id="rId5" Type="http://schemas.openxmlformats.org/officeDocument/2006/relationships/hyperlink" Target="https://git-scm.com/" TargetMode="External" /><Relationship Id="rId6" Type="http://schemas.openxmlformats.org/officeDocument/2006/relationships/hyperlink" Target="https://quarto.org/" TargetMode="Externa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r4ds.hadley.nz/intro" TargetMode="External" /><Relationship Id="rId3" Type="http://schemas.openxmlformats.org/officeDocument/2006/relationships/hyperlink" Target="https://happygitwithr.com/" TargetMode="External" /><Relationship Id="rId4" Type="http://schemas.openxmlformats.org/officeDocument/2006/relationships/hyperlink" Target="https://quarto.org/docs/get-started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研究环境搭建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Huaqing Liu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第四讲：研究环境搭建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第四章 在线版本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本章学习目标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理解</a:t>
            </a:r>
            <a:r>
              <a:rPr/>
              <a:t>研究环境中各工具的作用与相互关系</a:t>
            </a:r>
          </a:p>
          <a:p>
            <a:pPr lvl="0"/>
            <a:r>
              <a:rPr b="1"/>
              <a:t>掌握</a:t>
            </a:r>
            <a:r>
              <a:rPr/>
              <a:t> R、RStudio、Python、Git、Quarto 的安装与配置</a:t>
            </a:r>
          </a:p>
          <a:p>
            <a:pPr lvl="0"/>
            <a:r>
              <a:rPr b="1"/>
              <a:t>了解</a:t>
            </a:r>
            <a:r>
              <a:rPr/>
              <a:t> CRAN 镜像配置与 GitHub 账号注册流程</a:t>
            </a:r>
          </a:p>
          <a:p>
            <a:pPr lvl="0"/>
            <a:r>
              <a:rPr b="1"/>
              <a:t>能够应用</a:t>
            </a:r>
            <a:r>
              <a:rPr/>
              <a:t>环境检查清单验证安装是否成功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内容概览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核心工具安装（R、RStudio、Python、Git、Quarto）</a:t>
            </a:r>
          </a:p>
          <a:p>
            <a:pPr lvl="0" indent="-342900" marL="342900">
              <a:buAutoNum type="arabicPeriod"/>
            </a:pPr>
            <a:r>
              <a:rPr/>
              <a:t>R/Python 包管理与安装</a:t>
            </a:r>
          </a:p>
          <a:p>
            <a:pPr lvl="0" indent="-342900" marL="342900">
              <a:buAutoNum type="arabicPeriod"/>
            </a:pPr>
            <a:r>
              <a:rPr/>
              <a:t>GitHub 账号与 CRAN 镜像配置</a:t>
            </a:r>
          </a:p>
          <a:p>
            <a:pPr lvl="0" indent="-342900" marL="342900">
              <a:buAutoNum type="arabicPeriod"/>
            </a:pPr>
            <a:r>
              <a:rPr/>
              <a:t>环境验证检查清单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核心概念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IDE（集成开发环境）</a:t>
            </a:r>
            <a:r>
              <a:rPr/>
              <a:t>：RStudio 提供代码编辑、运行、调试、可视化的一体化界面</a:t>
            </a:r>
          </a:p>
          <a:p>
            <a:pPr lvl="0"/>
            <a:r>
              <a:rPr b="1"/>
              <a:t>包管理器（Package Manager）</a:t>
            </a:r>
            <a:r>
              <a:rPr/>
              <a:t>：conda 管理 Python 环境与依赖，避免版本冲突</a:t>
            </a:r>
          </a:p>
          <a:p>
            <a:pPr lvl="0"/>
            <a:r>
              <a:rPr b="1"/>
              <a:t>版本控制（Version Control）</a:t>
            </a:r>
            <a:r>
              <a:rPr/>
              <a:t>：Git 记录文件变更历史，支持多人协作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常用工具与方法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工具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用途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安装来源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统计分析与可视化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hlinkClick r:id="rId2"/>
                        </a:rPr>
                        <a:t>r-project.org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RStudio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 的集成开发环境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hlinkClick r:id="rId3"/>
                        </a:rPr>
                        <a:t>posit.co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Miniconda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Python 环境管理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hlinkClick r:id="rId4"/>
                        </a:rPr>
                        <a:t>conda.io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版本控制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hlinkClick r:id="rId5"/>
                        </a:rPr>
                        <a:t>git-scm.com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文档发布系统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hlinkClick r:id="rId6"/>
                        </a:rPr>
                        <a:t>quarto.org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代码示例：验证安装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实践要点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安装顺序很重要：先装 R，再装 RStudio，最后装 Quarto</a:t>
            </a:r>
          </a:p>
          <a:p>
            <a:pPr lvl="0"/>
            <a:r>
              <a:rPr/>
              <a:t>CRAN 镜像推荐使用清华源（</a:t>
            </a:r>
            <a:r>
              <a:rPr>
                <a:latin typeface="Courier"/>
              </a:rPr>
              <a:t>https://mirrors.tuna.tsinghua.edu.cn/CRAN</a:t>
            </a:r>
            <a:r>
              <a:rPr/>
              <a:t>）加速下载</a:t>
            </a:r>
          </a:p>
          <a:p>
            <a:pPr lvl="0"/>
            <a:r>
              <a:rPr/>
              <a:t>Python 推荐使用 Miniconda 而非 Anaconda，避免安装大量不需要的包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常见问题与解答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Q1：RStudio 打开后提示找不到 R？</a:t>
            </a:r>
          </a:p>
          <a:p>
            <a:pPr lvl="0" indent="0" marL="0">
              <a:buNone/>
            </a:pPr>
            <a:r>
              <a:rPr/>
              <a:t>A：确保 R 已安装且 PATH 环境变量正确设置。Windows 用户可在 RStudio &gt; Tools &gt; Global Options &gt; General 中手动指定 R 路径。</a:t>
            </a: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 b="1"/>
              <a:t>Q2：</a:t>
            </a:r>
            <a:r>
              <a:rPr b="1">
                <a:latin typeface="Courier"/>
              </a:rPr>
              <a:t>install.packages()</a:t>
            </a:r>
            <a:r>
              <a:rPr b="1"/>
              <a:t> 下载速度很慢怎么办？</a:t>
            </a:r>
          </a:p>
          <a:p>
            <a:pPr lvl="0" indent="0" marL="0">
              <a:buNone/>
            </a:pPr>
            <a:r>
              <a:rPr/>
              <a:t>A：在 </a:t>
            </a:r>
            <a:r>
              <a:rPr>
                <a:latin typeface="Courier"/>
              </a:rPr>
              <a:t>.Rprofile</a:t>
            </a:r>
            <a:r>
              <a:rPr/>
              <a:t> 中设置 CRAN 镜像：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options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repos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CRAN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"https://mirrors.tuna.tsinghua.edu.cn/CRAN"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本章小结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研究环境由 R + RStudio + Python + Git + Quarto 五大工具组成，各司其职</a:t>
            </a:r>
          </a:p>
          <a:p>
            <a:pPr lvl="0" indent="-342900" marL="342900">
              <a:buAutoNum type="arabicPeriod"/>
            </a:pPr>
            <a:r>
              <a:rPr/>
              <a:t>包管理是日常工作的基础——R 用 </a:t>
            </a:r>
            <a:r>
              <a:rPr>
                <a:latin typeface="Courier"/>
              </a:rPr>
              <a:t>install.packages()</a:t>
            </a:r>
            <a:r>
              <a:rPr/>
              <a:t>，Python 用 </a:t>
            </a:r>
            <a:r>
              <a:rPr>
                <a:latin typeface="Courier"/>
              </a:rPr>
              <a:t>conda install</a:t>
            </a:r>
          </a:p>
          <a:p>
            <a:pPr lvl="0" indent="-342900" marL="342900">
              <a:buAutoNum type="arabicPeriod"/>
            </a:pPr>
            <a:r>
              <a:rPr/>
              <a:t>环境搭建完成后务必用检查清单逐项验证，确保后续课程顺利进行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课后任务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必做</a:t>
            </a:r>
            <a:r>
              <a:rPr/>
              <a:t>：按照教程完成所有工具安装，运行环境检查脚本并截图提交</a:t>
            </a:r>
          </a:p>
          <a:p>
            <a:pPr lvl="0" indent="-342900" marL="342900">
              <a:buAutoNum type="arabicPeriod"/>
            </a:pPr>
            <a:r>
              <a:rPr b="1"/>
              <a:t>必做</a:t>
            </a:r>
            <a:r>
              <a:rPr/>
              <a:t>：注册 GitHub 账号，创建一个测试仓库（test-repo）</a:t>
            </a:r>
          </a:p>
          <a:p>
            <a:pPr lvl="0" indent="-342900" marL="342900">
              <a:buAutoNum type="arabicPeriod"/>
            </a:pPr>
            <a:r>
              <a:rPr b="1"/>
              <a:t>选做</a:t>
            </a:r>
            <a:r>
              <a:rPr/>
              <a:t>：尝试在终端中运行 </a:t>
            </a:r>
            <a:r>
              <a:rPr>
                <a:latin typeface="Courier"/>
              </a:rPr>
              <a:t>quarto render</a:t>
            </a:r>
            <a:r>
              <a:rPr/>
              <a:t> 生成一个 HTML 文档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延伸阅读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/>
              </a:rPr>
              <a:t>R for Data Science (2e) - Prerequisites</a:t>
            </a:r>
          </a:p>
          <a:p>
            <a:pPr lvl="0"/>
            <a:r>
              <a:rPr>
                <a:hlinkClick r:id="rId3"/>
              </a:rPr>
              <a:t>Happy Git and GitHub for the useR</a:t>
            </a:r>
          </a:p>
          <a:p>
            <a:pPr lvl="0"/>
            <a:r>
              <a:rPr>
                <a:hlinkClick r:id="rId4"/>
              </a:rPr>
              <a:t>Quarto 官方文档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46</Words>
  <Application>Microsoft Macintosh PowerPoint</Application>
  <PresentationFormat>全屏显示(16:9)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Microsoft YaHei</vt:lpstr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研究环境搭建</dc:title>
  <dc:creator>Huaqing Liu</dc:creator>
  <cp:keywords/>
  <dcterms:created xsi:type="dcterms:W3CDTF">2026-03-31T08:54:59Z</dcterms:created>
  <dcterms:modified xsi:type="dcterms:W3CDTF">2026-03-31T08:54:59Z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ibliography">
    <vt:lpwstr/>
  </property>
  <property fmtid="{D5CDD505-2E9C-101B-9397-08002B2CF9AE}" pid="5" name="by-author">
    <vt:lpwstr/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toc-title">
    <vt:lpwstr>Table of contents</vt:lpwstr>
  </property>
</Properties>
</file>