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776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241EB5C9-1307-BA42-ABA2-0BC069CD8E7F}" type="datetimeFigureOut">
              <a:rPr lang="en-US" smtClean="0"/>
              <a:pPr/>
              <a:t>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charset="-122" panose="020B0503020204020204" pitchFamily="34" typeface="Microsoft YaHei"/>
                <a:ea charset="-122" panose="020B0503020204020204" pitchFamily="34" typeface="Microsoft YaHei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charset="-122" panose="020B0503020204020204" pitchFamily="34" typeface="Microsoft YaHei"/>
          <a:ea charset="-122" panose="020B0503020204020204" pitchFamily="34" typeface="Microsoft YaHei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ta-collection-and-preprocessing.github.io/Data-collection-and-preprocessing-2027-Spring/lectures/lecture-0105.html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4ds.hadley.nz/data-visualize" TargetMode="External" /><Relationship Id="rId3" Type="http://schemas.openxmlformats.org/officeDocument/2006/relationships/hyperlink" Target="https://www.runoob.com/r/r-tutorial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语言基础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Huaqing Liu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第五讲：R 语言基础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第五章 在线版本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理解</a:t>
            </a:r>
            <a:r>
              <a:rPr/>
              <a:t> R 的基本数据类型与数据结构的区别</a:t>
            </a:r>
          </a:p>
          <a:p>
            <a:pPr lvl="0"/>
            <a:r>
              <a:rPr b="1"/>
              <a:t>掌握</a:t>
            </a:r>
            <a:r>
              <a:rPr/>
              <a:t>向量操作、因子创建与数据框的基本操作</a:t>
            </a:r>
          </a:p>
          <a:p>
            <a:pPr lvl="0"/>
            <a:r>
              <a:rPr b="1"/>
              <a:t>了解</a:t>
            </a:r>
            <a:r>
              <a:rPr/>
              <a:t> RStudio 四面板界面与常用快捷键</a:t>
            </a:r>
          </a:p>
          <a:p>
            <a:pPr lvl="0"/>
            <a:r>
              <a:rPr b="1"/>
              <a:t>能够应用</a:t>
            </a:r>
            <a:r>
              <a:rPr/>
              <a:t> R 进行基础统计计算与数据可视化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内容概览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RStudio 界面与基本操作</a:t>
            </a:r>
          </a:p>
          <a:p>
            <a:pPr lvl="0" indent="-342900" marL="342900">
              <a:buAutoNum type="arabicPeriod"/>
            </a:pPr>
            <a:r>
              <a:rPr/>
              <a:t>数据类型与向量操作</a:t>
            </a:r>
          </a:p>
          <a:p>
            <a:pPr lvl="0" indent="-342900" marL="342900">
              <a:buAutoNum type="arabicPeriod"/>
            </a:pPr>
            <a:r>
              <a:rPr/>
              <a:t>因子与数据框</a:t>
            </a:r>
          </a:p>
          <a:p>
            <a:pPr lvl="0" indent="-342900" marL="342900">
              <a:buAutoNum type="arabicPeriod"/>
            </a:pPr>
            <a:r>
              <a:rPr/>
              <a:t>数据读取、基础统计与绘图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向量化操作（Vectorization）</a:t>
            </a:r>
            <a:r>
              <a:rPr/>
              <a:t>：R 中运算自动作用于向量每个元素，无需显式循环</a:t>
            </a:r>
          </a:p>
          <a:p>
            <a:pPr lvl="0"/>
            <a:r>
              <a:rPr b="1"/>
              <a:t>因子 vs 字符（Factor vs Character）</a:t>
            </a:r>
            <a:r>
              <a:rPr/>
              <a:t>：因子用于分类变量，有固定水平（levels），字符仅为文本</a:t>
            </a:r>
          </a:p>
          <a:p>
            <a:pPr lvl="0"/>
            <a:r>
              <a:rPr b="1"/>
              <a:t>数据框（data.frame）</a:t>
            </a:r>
            <a:r>
              <a:rPr/>
              <a:t>：R 中最常用的表格数据结构，每列可为不同类型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常用工具与方法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示例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创建向量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c(1, 2, 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factor()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创建因子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factor(c("A", "B"))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data.frame()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创建数据框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data.frame(x = 1:3)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read.csv()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读取 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read.csv("data.csv")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查看结构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str(iris)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描述性统计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summary(iris)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代码示例：向量与数据框操作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实践要点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使用 </a:t>
            </a:r>
            <a:r>
              <a:rPr>
                <a:latin typeface="Courier"/>
              </a:rPr>
              <a:t>&lt;-</a:t>
            </a:r>
            <a:r>
              <a:rPr/>
              <a:t> 赋值（快捷键 </a:t>
            </a:r>
            <a:r>
              <a:rPr>
                <a:latin typeface="Courier"/>
              </a:rPr>
              <a:t>Alt + -</a:t>
            </a:r>
            <a:r>
              <a:rPr/>
              <a:t>），避免用 </a:t>
            </a:r>
            <a:r>
              <a:rPr>
                <a:latin typeface="Courier"/>
              </a:rPr>
              <a:t>=</a:t>
            </a:r>
            <a:r>
              <a:rPr/>
              <a:t> 以区分赋值与参数传递</a:t>
            </a:r>
          </a:p>
          <a:p>
            <a:pPr lvl="0"/>
            <a:r>
              <a:rPr/>
              <a:t>向量索引从 </a:t>
            </a:r>
            <a:r>
              <a:rPr b="1"/>
              <a:t>1</a:t>
            </a:r>
            <a:r>
              <a:rPr/>
              <a:t> 开始（不同于 Python 的 0），负数索引表示排除</a:t>
            </a:r>
          </a:p>
          <a:p>
            <a:pPr lvl="0"/>
            <a:r>
              <a:rPr/>
              <a:t>读取中文 CSV 文件时注意编码：</a:t>
            </a:r>
            <a:r>
              <a:rPr>
                <a:latin typeface="Courier"/>
              </a:rPr>
              <a:t>read.csv("data.csv", fileEncoding = "UTF-8")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常见问题与解答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Q1：</a:t>
            </a:r>
            <a:r>
              <a:rPr b="1">
                <a:latin typeface="Courier"/>
              </a:rPr>
              <a:t>factor</a:t>
            </a:r>
            <a:r>
              <a:rPr b="1"/>
              <a:t> 和 </a:t>
            </a:r>
            <a:r>
              <a:rPr b="1">
                <a:latin typeface="Courier"/>
              </a:rPr>
              <a:t>character</a:t>
            </a:r>
            <a:r>
              <a:rPr b="1"/>
              <a:t> 什么时候该用哪个？</a:t>
            </a:r>
          </a:p>
          <a:p>
            <a:pPr lvl="0" indent="0" marL="0">
              <a:buNone/>
            </a:pPr>
            <a:r>
              <a:rPr/>
              <a:t>A：当变量表示有限分类（如性别、处理组）时用 </a:t>
            </a:r>
            <a:r>
              <a:rPr>
                <a:latin typeface="Courier"/>
              </a:rPr>
              <a:t>factor</a:t>
            </a:r>
            <a:r>
              <a:rPr/>
              <a:t>，它支持排序和统计建模。纯文本描述（如备注）用 </a:t>
            </a:r>
            <a:r>
              <a:rPr>
                <a:latin typeface="Courier"/>
              </a:rPr>
              <a:t>character</a:t>
            </a:r>
            <a:r>
              <a:rPr/>
              <a:t>。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Q2：为什么 </a:t>
            </a:r>
            <a:r>
              <a:rPr b="1">
                <a:latin typeface="Courier"/>
              </a:rPr>
              <a:t>mean(c(1, 2, NA))</a:t>
            </a:r>
            <a:r>
              <a:rPr b="1"/>
              <a:t> 返回 </a:t>
            </a:r>
            <a:r>
              <a:rPr b="1">
                <a:latin typeface="Courier"/>
              </a:rPr>
              <a:t>NA</a:t>
            </a:r>
            <a:r>
              <a:rPr b="1"/>
              <a:t>？</a:t>
            </a:r>
          </a:p>
          <a:p>
            <a:pPr lvl="0" indent="0" marL="0">
              <a:buNone/>
            </a:pPr>
            <a:r>
              <a:rPr/>
              <a:t>A：R 中 </a:t>
            </a:r>
            <a:r>
              <a:rPr>
                <a:latin typeface="Courier"/>
              </a:rPr>
              <a:t>NA</a:t>
            </a:r>
            <a:r>
              <a:rPr/>
              <a:t> 具有传染性，任何包含 </a:t>
            </a:r>
            <a:r>
              <a:rPr>
                <a:latin typeface="Courier"/>
              </a:rPr>
              <a:t>NA</a:t>
            </a:r>
            <a:r>
              <a:rPr/>
              <a:t> 的运算默认返回 </a:t>
            </a:r>
            <a:r>
              <a:rPr>
                <a:latin typeface="Courier"/>
              </a:rPr>
              <a:t>NA</a:t>
            </a:r>
            <a:r>
              <a:rPr/>
              <a:t>。需要添加参数：</a:t>
            </a:r>
            <a:r>
              <a:rPr>
                <a:latin typeface="Courier"/>
              </a:rPr>
              <a:t>mean(c(1, 2, NA), na.rm = TRUE)</a:t>
            </a:r>
            <a:r>
              <a:rPr/>
              <a:t>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R 的核心优势在于向量化操作——理解向量是掌握 R 的关键</a:t>
            </a:r>
          </a:p>
          <a:p>
            <a:pPr lvl="0" indent="-342900" marL="342900">
              <a:buAutoNum type="arabicPeriod"/>
            </a:pPr>
            <a:r>
              <a:rPr/>
              <a:t>数据框是数据分析的基本载体，熟练使用 </a:t>
            </a:r>
            <a:r>
              <a:rPr>
                <a:latin typeface="Courier"/>
              </a:rPr>
              <a:t>$</a:t>
            </a:r>
            <a:r>
              <a:rPr/>
              <a:t>、</a:t>
            </a:r>
            <a:r>
              <a:rPr>
                <a:latin typeface="Courier"/>
              </a:rPr>
              <a:t>[]</a:t>
            </a:r>
            <a:r>
              <a:rPr/>
              <a:t>、</a:t>
            </a:r>
            <a:r>
              <a:rPr>
                <a:latin typeface="Courier"/>
              </a:rPr>
              <a:t>str()</a:t>
            </a:r>
            <a:r>
              <a:rPr/>
              <a:t>、</a:t>
            </a:r>
            <a:r>
              <a:rPr>
                <a:latin typeface="Courier"/>
              </a:rPr>
              <a:t>summary()</a:t>
            </a:r>
            <a:r>
              <a:rPr/>
              <a:t> 至关重要</a:t>
            </a:r>
          </a:p>
          <a:p>
            <a:pPr lvl="0" indent="-342900" marL="342900">
              <a:buAutoNum type="arabicPeriod"/>
            </a:pPr>
            <a:r>
              <a:rPr/>
              <a:t>基础绘图函数（</a:t>
            </a:r>
            <a:r>
              <a:rPr>
                <a:latin typeface="Courier"/>
              </a:rPr>
              <a:t>hist()</a:t>
            </a:r>
            <a:r>
              <a:rPr/>
              <a:t>、</a:t>
            </a:r>
            <a:r>
              <a:rPr>
                <a:latin typeface="Courier"/>
              </a:rPr>
              <a:t>boxplot()</a:t>
            </a:r>
            <a:r>
              <a:rPr/>
              <a:t>、</a:t>
            </a:r>
            <a:r>
              <a:rPr>
                <a:latin typeface="Courier"/>
              </a:rPr>
              <a:t>plot()</a:t>
            </a:r>
            <a:r>
              <a:rPr/>
              <a:t>）可快速探索数据分布与关系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课后任务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：用 </a:t>
            </a:r>
            <a:r>
              <a:rPr>
                <a:latin typeface="Courier"/>
              </a:rPr>
              <a:t>iris</a:t>
            </a:r>
            <a:r>
              <a:rPr/>
              <a:t> 数据集完成以下操作——筛选 </a:t>
            </a:r>
            <a:r>
              <a:rPr>
                <a:latin typeface="Courier"/>
              </a:rPr>
              <a:t>Sepal.Length &gt; 5</a:t>
            </a:r>
            <a:r>
              <a:rPr/>
              <a:t> 的行，计算各物种的 </a:t>
            </a:r>
            <a:r>
              <a:rPr>
                <a:latin typeface="Courier"/>
              </a:rPr>
              <a:t>Petal.Width</a:t>
            </a:r>
            <a:r>
              <a:rPr/>
              <a:t> 均值</a:t>
            </a:r>
          </a:p>
          <a:p>
            <a:pPr lvl="0" indent="-342900" marL="342900">
              <a:buAutoNum type="arabicPeriod"/>
            </a:pPr>
            <a:r>
              <a:rPr b="1"/>
              <a:t>必做</a:t>
            </a:r>
            <a:r>
              <a:rPr/>
              <a:t>：读取一个 CSV 文件，用 </a:t>
            </a:r>
            <a:r>
              <a:rPr>
                <a:latin typeface="Courier"/>
              </a:rPr>
              <a:t>str()</a:t>
            </a:r>
            <a:r>
              <a:rPr/>
              <a:t> 和 </a:t>
            </a:r>
            <a:r>
              <a:rPr>
                <a:latin typeface="Courier"/>
              </a:rPr>
              <a:t>summary()</a:t>
            </a:r>
            <a:r>
              <a:rPr/>
              <a:t> 查看结构并生成一张直方图</a:t>
            </a:r>
          </a:p>
          <a:p>
            <a:pPr lvl="0" indent="-342900" marL="342900">
              <a:buAutoNum type="arabicPeriod"/>
            </a:pPr>
            <a:r>
              <a:rPr b="1"/>
              <a:t>选做</a:t>
            </a:r>
            <a:r>
              <a:rPr/>
              <a:t>：尝试用 </a:t>
            </a:r>
            <a:r>
              <a:rPr>
                <a:latin typeface="Courier"/>
              </a:rPr>
              <a:t>boxplot()</a:t>
            </a:r>
            <a:r>
              <a:rPr/>
              <a:t> 对比 </a:t>
            </a:r>
            <a:r>
              <a:rPr>
                <a:latin typeface="Courier"/>
              </a:rPr>
              <a:t>iris</a:t>
            </a:r>
            <a:r>
              <a:rPr/>
              <a:t> 中三个物种的花瓣长度分布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延伸阅读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R for Data Science (2e) - Data Visualization</a:t>
            </a:r>
          </a:p>
          <a:p>
            <a:pPr lvl="0"/>
            <a:r>
              <a:rPr>
                <a:hlinkClick r:id="rId3"/>
              </a:rPr>
              <a:t>R 语言教程 - 菜鸟教程</a:t>
            </a:r>
          </a:p>
          <a:p>
            <a:pPr lvl="0"/>
            <a:r>
              <a:rPr/>
              <a:t>Wickham, H. (2019). </a:t>
            </a:r>
            <a:r>
              <a:rPr i="1"/>
              <a:t>Advanced R</a:t>
            </a:r>
            <a:r>
              <a:rPr/>
              <a:t> (2nd ed.). CRC Press.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Macintosh PowerPoint</Application>
  <PresentationFormat>全屏显示(16:9)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语言基础</dc:title>
  <dc:creator>Huaqing Liu</dc:creator>
  <cp:keywords/>
  <dcterms:created xsi:type="dcterms:W3CDTF">2026-03-31T08:55:03Z</dcterms:created>
  <dcterms:modified xsi:type="dcterms:W3CDTF">2026-03-31T08:55:03Z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