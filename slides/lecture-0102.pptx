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776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charset="-122" panose="020B0503020204020204" pitchFamily="34" typeface="Microsoft YaHei"/>
                <a:ea charset="-122" panose="020B0503020204020204" pitchFamily="34" typeface="Microsoft YaHei"/>
              </a:defRPr>
            </a:lvl1pPr>
          </a:lstStyle>
          <a:p>
            <a:fld id="{241EB5C9-1307-BA42-ABA2-0BC069CD8E7F}" type="datetimeFigureOut">
              <a:rPr lang="en-US" smtClean="0"/>
              <a:pPr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charset="-122" panose="020B0503020204020204" pitchFamily="34" typeface="Microsoft YaHei"/>
                <a:ea charset="-122" panose="020B0503020204020204" pitchFamily="34" typeface="Microsoft YaHei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charset="-122" panose="020B0503020204020204" pitchFamily="34" typeface="Microsoft YaHei"/>
                <a:ea charset="-122" panose="020B0503020204020204" pitchFamily="34" typeface="Microsoft YaHei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什么是数据预处理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Huaqing Liu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0102 什么是数据预处理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教材章节：0102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本章学习目标</a:t>
            </a:r>
          </a:p>
          <a:p>
            <a:pPr lvl="0"/>
            <a:r>
              <a:rPr/>
              <a:t>理解 数据预处理的概念与必要性</a:t>
            </a:r>
          </a:p>
          <a:p>
            <a:pPr lvl="0"/>
            <a:r>
              <a:rPr/>
              <a:t>掌握 预处理完整流程六步骤</a:t>
            </a:r>
          </a:p>
          <a:p>
            <a:pPr lvl="0"/>
            <a:r>
              <a:rPr/>
              <a:t>了解 数据检查与诊断方法</a:t>
            </a:r>
          </a:p>
          <a:p>
            <a:pPr lvl="0"/>
            <a:r>
              <a:rPr/>
              <a:t>能够应用 代码记录预处理操作的重要性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内容概览</a:t>
            </a:r>
          </a:p>
          <a:p>
            <a:pPr lvl="0" indent="-342900" marL="342900">
              <a:buAutoNum type="arabicPeriod"/>
            </a:pPr>
            <a:r>
              <a:rPr b="1"/>
              <a:t>第一节</a:t>
            </a:r>
            <a:r>
              <a:rPr/>
              <a:t>：为什么需要数据预处理</a:t>
            </a:r>
          </a:p>
          <a:p>
            <a:pPr lvl="0" indent="-342900" marL="342900">
              <a:buAutoNum type="arabicPeriod"/>
            </a:pPr>
            <a:r>
              <a:rPr b="1"/>
              <a:t>第二节</a:t>
            </a:r>
            <a:r>
              <a:rPr/>
              <a:t>：数据预处理的完整流程</a:t>
            </a:r>
          </a:p>
          <a:p>
            <a:pPr lvl="0" indent="-342900" marL="342900">
              <a:buAutoNum type="arabicPeriod"/>
            </a:pPr>
            <a:r>
              <a:rPr b="1"/>
              <a:t>第三节</a:t>
            </a:r>
            <a:r>
              <a:rPr/>
              <a:t>：数据检查与诊断</a:t>
            </a:r>
          </a:p>
          <a:p>
            <a:pPr lvl="0" indent="-342900" marL="342900">
              <a:buAutoNum type="arabicPeriod"/>
            </a:pPr>
            <a:r>
              <a:rPr b="1"/>
              <a:t>第四节</a:t>
            </a:r>
            <a:r>
              <a:rPr/>
              <a:t>：预处理与可重复性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核心概念</a:t>
            </a:r>
          </a:p>
          <a:p>
            <a:pPr lvl="0"/>
            <a:r>
              <a:rPr b="1"/>
              <a:t>概念一</a:t>
            </a:r>
            <a:r>
              <a:rPr/>
              <a:t>：数据预处理：将原始混乱数据转化为干净可用数据的过程</a:t>
            </a:r>
          </a:p>
          <a:p>
            <a:pPr lvl="0"/>
            <a:r>
              <a:rPr b="1"/>
              <a:t>概念二</a:t>
            </a:r>
            <a:r>
              <a:rPr/>
              <a:t>：缺失值：传感器故障、记录遗漏导致的数据空白</a:t>
            </a:r>
          </a:p>
          <a:p>
            <a:pPr lvl="0"/>
            <a:r>
              <a:rPr b="1"/>
              <a:t>概念三</a:t>
            </a:r>
            <a:r>
              <a:rPr/>
              <a:t>：异常值：输入错误或极端事件导致的明显不合理数值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这些核心概念是理解本章内容的基础，请确保掌握。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常用工具与方法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类别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工具/方法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用途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检查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str() / glimpse()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查看数据结构与类型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检查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summary()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数值摘要与缺失值检测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检查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is.na()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检测缺失值位置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标准化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Z-score / Min-Max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消除量纲差异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代码示例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#| eval: false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数据基本检查</a:t>
            </a:r>
            <a:br/>
            <a:r>
              <a:rPr>
                <a:latin typeface="Courier"/>
              </a:rPr>
              <a:t>df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read.csv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"soil_survey.csv"</a:t>
            </a:r>
            <a:r>
              <a:rPr>
                <a:latin typeface="Courier"/>
              </a:rPr>
              <a:t>)</a:t>
            </a:r>
            <a:br/>
            <a:r>
              <a:rPr>
                <a:solidFill>
                  <a:srgbClr val="06287E"/>
                </a:solidFill>
                <a:latin typeface="Courier"/>
              </a:rPr>
              <a:t>dim</a:t>
            </a:r>
            <a:r>
              <a:rPr>
                <a:latin typeface="Courier"/>
              </a:rPr>
              <a:t>(df)</a:t>
            </a:r>
            <a:br/>
            <a:r>
              <a:rPr>
                <a:solidFill>
                  <a:srgbClr val="06287E"/>
                </a:solidFill>
                <a:latin typeface="Courier"/>
              </a:rPr>
              <a:t>colSums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is.na</a:t>
            </a:r>
            <a:r>
              <a:rPr>
                <a:latin typeface="Courier"/>
              </a:rPr>
              <a:t>(df))</a:t>
            </a:r>
            <a:br/>
            <a:r>
              <a:rPr>
                <a:solidFill>
                  <a:srgbClr val="06287E"/>
                </a:solidFill>
                <a:latin typeface="Courier"/>
              </a:rPr>
              <a:t>summary</a:t>
            </a:r>
            <a:r>
              <a:rPr>
                <a:latin typeface="Courier"/>
              </a:rPr>
              <a:t>(df)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实践要点</a:t>
            </a:r>
          </a:p>
          <a:p>
            <a:pPr lvl="0"/>
            <a:r>
              <a:rPr b="1"/>
              <a:t>要点一</a:t>
            </a:r>
            <a:r>
              <a:rPr/>
              <a:t>：永远保留原始数据的完整副本</a:t>
            </a:r>
          </a:p>
          <a:p>
            <a:pPr lvl="0"/>
            <a:r>
              <a:rPr b="1"/>
              <a:t>要点二</a:t>
            </a:r>
            <a:r>
              <a:rPr/>
              <a:t>：所有预处理步骤用代码实现，不在 Excel 中手动操作</a:t>
            </a:r>
          </a:p>
          <a:p>
            <a:pPr lvl="0"/>
            <a:r>
              <a:rPr b="1"/>
              <a:t>要点三</a:t>
            </a:r>
            <a:r>
              <a:rPr/>
              <a:t>：在脚本中添加注释说明每步处理理由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/>
              <a:t>动手实践是学习本课程的关键，请在电脑前跟随课程一起操作。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常见问题与解答</a:t>
            </a:r>
          </a:p>
          <a:p>
            <a:pPr lvl="0" indent="0" marL="0">
              <a:buNone/>
            </a:pPr>
            <a:r>
              <a:rPr b="1"/>
              <a:t>Q1</a:t>
            </a:r>
            <a:r>
              <a:rPr/>
              <a:t>：为什么不能用 Excel 手动清洗数据？</a:t>
            </a:r>
          </a:p>
          <a:p>
            <a:pPr lvl="0" indent="0" marL="0">
              <a:buNone/>
            </a:pPr>
            <a:r>
              <a:rPr b="1"/>
              <a:t>A1</a:t>
            </a:r>
            <a:r>
              <a:rPr/>
              <a:t>：Excel 操作不可追溯、不可重复，代码才是可重复性研究的基础。</a:t>
            </a:r>
          </a:p>
          <a:p>
            <a:pPr lvl="0" indent="0" marL="0">
              <a:buNone/>
            </a:pPr>
            <a:r>
              <a:rPr b="1"/>
              <a:t>Q2</a:t>
            </a:r>
            <a:r>
              <a:rPr/>
              <a:t>：缺失值一定要删除吗？</a:t>
            </a:r>
          </a:p>
          <a:p>
            <a:pPr lvl="0" indent="0" marL="0">
              <a:buNone/>
            </a:pPr>
            <a:r>
              <a:rPr b="1"/>
              <a:t>A2</a:t>
            </a:r>
            <a:r>
              <a:rPr/>
              <a:t>：不一定。需要评估缺失比例和机制，可选择删除、填充或保留。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本章小结</a:t>
            </a:r>
          </a:p>
          <a:p>
            <a:pPr lvl="0" indent="-342900" marL="342900">
              <a:buAutoNum type="arabicPeriod"/>
            </a:pPr>
            <a:r>
              <a:rPr/>
              <a:t>数据预处理是数据分析的第一步，垃圾进垃圾出</a:t>
            </a:r>
          </a:p>
          <a:p>
            <a:pPr lvl="0" indent="-342900" marL="342900">
              <a:buAutoNum type="arabicPeriod"/>
            </a:pPr>
            <a:r>
              <a:rPr/>
              <a:t>完整流程：检查 - 清洗 - 转换 - 特征工程 - 标准化 - 质量评估</a:t>
            </a:r>
          </a:p>
          <a:p>
            <a:pPr lvl="0" indent="-342900" marL="342900">
              <a:buAutoNum type="arabicPeriod"/>
            </a:pPr>
            <a:r>
              <a:rPr/>
              <a:t>所有预处理步骤必须用代码记录，确保可重复性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课后任务</a:t>
            </a:r>
          </a:p>
          <a:p>
            <a:pPr lvl="0"/>
            <a:r>
              <a:rPr/>
              <a:t>检查你当前数据集的缺失值情况</a:t>
            </a:r>
          </a:p>
          <a:p>
            <a:pPr lvl="0"/>
            <a:r>
              <a:rPr/>
              <a:t>用 R 代码替代一步 Excel 手动操作</a:t>
            </a:r>
          </a:p>
          <a:p>
            <a:pPr lvl="0"/>
            <a:r>
              <a:rPr b="1"/>
              <a:t>选做</a:t>
            </a:r>
            <a:r>
              <a:rPr/>
              <a:t>：对比不同缺失值处理方式对结果的影响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延伸阅读</a:t>
            </a:r>
          </a:p>
          <a:p>
            <a:pPr lvl="0"/>
            <a:r>
              <a:rPr/>
              <a:t>数据预处理最佳实践文档</a:t>
            </a:r>
          </a:p>
          <a:p>
            <a:pPr lvl="0"/>
            <a:r>
              <a:rPr/>
              <a:t>R tidyverse 数据转换文档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46</Words>
  <Application>Microsoft Macintosh PowerPoint</Application>
  <PresentationFormat>全屏显示(16:9)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Microsoft YaHei</vt:lpstr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什么是数据预处理</dc:title>
  <dc:creator>Huaqing Liu</dc:creator>
  <cp:keywords/>
  <dcterms:created xsi:type="dcterms:W3CDTF">2026-03-31T08:54:55Z</dcterms:created>
  <dcterms:modified xsi:type="dcterms:W3CDTF">2026-03-31T08:54:55Z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ibliography">
    <vt:lpwstr/>
  </property>
  <property fmtid="{D5CDD505-2E9C-101B-9397-08002B2CF9AE}" pid="5" name="by-author">
    <vt:lpwstr/>
  </property>
  <property fmtid="{D5CDD505-2E9C-101B-9397-08002B2CF9AE}" pid="6" name="engines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toc-title">
    <vt:lpwstr>Table of contents</vt:lpwstr>
  </property>
</Properties>
</file>