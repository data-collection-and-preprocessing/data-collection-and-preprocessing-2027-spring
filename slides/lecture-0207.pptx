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metafor-project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荟萃分析入门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0207 荟萃分析入门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荟萃分析的定义、核心特征与典型应用场景</a:t>
            </a:r>
          </a:p>
          <a:p>
            <a:pPr lvl="0"/>
            <a:r>
              <a:rPr/>
              <a:t>掌握 效应量的概念及常见类型（lnRR、Hedges’ g、r）</a:t>
            </a:r>
          </a:p>
          <a:p>
            <a:pPr lvl="0"/>
            <a:r>
              <a:rPr/>
              <a:t>学会 使用 metafor 包完成从效应量计算到森林图绘制的基本流程</a:t>
            </a:r>
          </a:p>
          <a:p>
            <a:pPr lvl="0"/>
            <a:r>
              <a:rPr/>
              <a:t>了解 异质性检验与发表偏倚的检测方法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：什么是荟萃分析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：效应量与模型选择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：metafor 包工作流程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：异质性与发表偏倚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：荟萃分析（Meta-analysis）：对多项独立研究结果进行定量综合的统计方法，通过加权合并提高统计效力</a:t>
            </a:r>
          </a:p>
          <a:p>
            <a:pPr lvl="0"/>
            <a:r>
              <a:rPr b="1"/>
              <a:t>概念二</a:t>
            </a:r>
            <a:r>
              <a:rPr/>
              <a:t>：效应量（Effect size）：量化处理效果大小的标准化指标，使不同研究的结果具有可比性</a:t>
            </a:r>
          </a:p>
          <a:p>
            <a:pPr lvl="0"/>
            <a:r>
              <a:rPr b="1"/>
              <a:t>概念三</a:t>
            </a:r>
            <a:r>
              <a:rPr/>
              <a:t>：异质性（Heterogeneity）：不同研究间效应量的变异程度，反映研究结果的一致性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这些核心概念是理解本章内容的基础，请确保掌握。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什么是荟萃分析</a:t>
            </a:r>
          </a:p>
          <a:p>
            <a:pPr lvl="0"/>
            <a:r>
              <a:rPr b="1"/>
              <a:t>定量文献综合</a:t>
            </a:r>
            <a:r>
              <a:rPr/>
              <a:t>：不只是描述性总结，而是用统计方法合并多项研究结果</a:t>
            </a:r>
          </a:p>
          <a:p>
            <a:pPr lvl="0"/>
            <a:r>
              <a:rPr/>
              <a:t>三大核心特征：</a:t>
            </a:r>
          </a:p>
          <a:p>
            <a:pPr lvl="1"/>
            <a:r>
              <a:rPr b="1"/>
              <a:t>定量</a:t>
            </a:r>
            <a:r>
              <a:rPr/>
              <a:t>：用数学方法而非叙述方式整合研究</a:t>
            </a:r>
          </a:p>
          <a:p>
            <a:pPr lvl="1"/>
            <a:r>
              <a:rPr b="1"/>
              <a:t>系统性</a:t>
            </a:r>
            <a:r>
              <a:rPr/>
              <a:t>：遵循严格的文献检索与筛选流程</a:t>
            </a:r>
          </a:p>
          <a:p>
            <a:pPr lvl="1"/>
            <a:r>
              <a:rPr b="1"/>
              <a:t>加权</a:t>
            </a:r>
            <a:r>
              <a:rPr/>
              <a:t>：根据样本量和精度对每项研究赋予不同权重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典型应用场景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应用领域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典型问题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处理效应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某干预是否有效？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施氮对土壤碳库的影响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方法比较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哪种方法更优？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不同采样策略的精度对比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全球格局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全球尺度的普遍规律？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全球变暖对作物产量的影响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争议整合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矛盾结论如何统一？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生物多样性与生态系统功能的关系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效应量类型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效应量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 response ratio (lnRR)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ln(X_treatment / X_control)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处理组 vs 对照组的相对变化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Hedges’ 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(M1 - M2) / S_pooled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标准化均值差异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相关系数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Pearson / Spearman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两变量间关联强度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为什么生态学偏好 lnRR</a:t>
            </a:r>
          </a:p>
          <a:p>
            <a:pPr lvl="0"/>
            <a:r>
              <a:rPr b="1"/>
              <a:t>相对变化</a:t>
            </a:r>
            <a:r>
              <a:rPr/>
              <a:t>：表达处理效果的百分比变化，如 lnRR = 0.18 意味着约 20% 的增加</a:t>
            </a:r>
          </a:p>
          <a:p>
            <a:pPr lvl="0"/>
            <a:r>
              <a:rPr b="1"/>
              <a:t>对数正态</a:t>
            </a:r>
            <a:r>
              <a:rPr/>
              <a:t>：生态学数据通常呈对数正态分布，取对数后更接近正态</a:t>
            </a:r>
          </a:p>
          <a:p>
            <a:pPr lvl="0"/>
            <a:r>
              <a:rPr b="1"/>
              <a:t>直观解读</a:t>
            </a:r>
            <a:r>
              <a:rPr/>
              <a:t>：可直接转化为百分比变化（exp(lnRR) - 1）</a:t>
            </a:r>
          </a:p>
          <a:p>
            <a:pPr lvl="0"/>
            <a:r>
              <a:rPr b="1"/>
              <a:t>对称性</a:t>
            </a:r>
            <a:r>
              <a:rPr/>
              <a:t>：增加 50% 和减少 50% 在对数尺度上等距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在 metafor 中，lnRR 对应的 measure 参数为 </a:t>
            </a:r>
            <a:r>
              <a:rPr sz="2000">
                <a:latin typeface="Courier"/>
              </a:rPr>
              <a:t>"ROM"</a:t>
            </a:r>
            <a:r>
              <a:rPr sz="2000"/>
              <a:t>（Ratio of Means）。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固定效应 vs 随机效应模型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固定效应模型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随机效应模型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假设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所有研究共享同一真实效应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每项研究有各自的真实效应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变异来源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仅抽样误差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抽样误差 + 研究间变异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权重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仅基于样本量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考虑研究间方差 tau^2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研究条件高度一致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研究间存在系统差异（更常用）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生态学研究通常使用随机效应模型，因为不同研究在物种、地点、方法上存在天然差异。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metafor 包工作流程</a:t>
            </a:r>
          </a:p>
          <a:p>
            <a:pPr lvl="0" indent="0">
              <a:buNone/>
            </a:pPr>
            <a:r>
              <a:rPr>
                <a:latin typeface="Courier"/>
              </a:rPr>
              <a:t>escalc()  →  rma()  →  forest()  →  funnel()
 计算效应量    拟合模型    森林图      漏斗图</a:t>
            </a:r>
          </a:p>
          <a:p>
            <a:pPr lvl="0"/>
            <a:r>
              <a:rPr b="1"/>
              <a:t>escalc()</a:t>
            </a:r>
            <a:r>
              <a:rPr/>
              <a:t>：根据均值、标准差、样本量计算效应量及其方差</a:t>
            </a:r>
          </a:p>
          <a:p>
            <a:pPr lvl="0"/>
            <a:r>
              <a:rPr b="1"/>
              <a:t>rma()</a:t>
            </a:r>
            <a:r>
              <a:rPr/>
              <a:t>：拟合随机效应（或固定效应）模型，估计总体效应量</a:t>
            </a:r>
          </a:p>
          <a:p>
            <a:pPr lvl="0"/>
            <a:r>
              <a:rPr b="1"/>
              <a:t>forest()</a:t>
            </a:r>
            <a:r>
              <a:rPr/>
              <a:t>：绘制森林图，可视化各研究效应量与合并结果</a:t>
            </a:r>
          </a:p>
          <a:p>
            <a:pPr lvl="0"/>
            <a:r>
              <a:rPr b="1"/>
              <a:t>funnel()</a:t>
            </a:r>
            <a:r>
              <a:rPr/>
              <a:t>：绘制漏斗图，检测潜在的发表偏倚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(metafor)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1. 计算效应量 (log response ratio)</a:t>
            </a:r>
            <a:br/>
            <a:r>
              <a:rPr>
                <a:latin typeface="Courier"/>
              </a:rPr>
              <a:t>dat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escalc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measure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"ROM"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m1i =</a:t>
            </a:r>
            <a:r>
              <a:rPr>
                <a:latin typeface="Courier"/>
              </a:rPr>
              <a:t> mean_treatment, </a:t>
            </a:r>
            <a:r>
              <a:rPr>
                <a:solidFill>
                  <a:srgbClr val="7D9029"/>
                </a:solidFill>
                <a:latin typeface="Courier"/>
              </a:rPr>
              <a:t>sd1i =</a:t>
            </a:r>
            <a:r>
              <a:rPr>
                <a:latin typeface="Courier"/>
              </a:rPr>
              <a:t> sd_treatment, </a:t>
            </a:r>
            <a:r>
              <a:rPr>
                <a:solidFill>
                  <a:srgbClr val="7D9029"/>
                </a:solidFill>
                <a:latin typeface="Courier"/>
              </a:rPr>
              <a:t>n1i =</a:t>
            </a:r>
            <a:r>
              <a:rPr>
                <a:latin typeface="Courier"/>
              </a:rPr>
              <a:t> n_treatment,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m2i =</a:t>
            </a:r>
            <a:r>
              <a:rPr>
                <a:latin typeface="Courier"/>
              </a:rPr>
              <a:t> mean_control,   </a:t>
            </a:r>
            <a:r>
              <a:rPr>
                <a:solidFill>
                  <a:srgbClr val="7D9029"/>
                </a:solidFill>
                <a:latin typeface="Courier"/>
              </a:rPr>
              <a:t>sd2i =</a:t>
            </a:r>
            <a:r>
              <a:rPr>
                <a:latin typeface="Courier"/>
              </a:rPr>
              <a:t> sd_control,   </a:t>
            </a:r>
            <a:r>
              <a:rPr>
                <a:solidFill>
                  <a:srgbClr val="7D9029"/>
                </a:solidFill>
                <a:latin typeface="Courier"/>
              </a:rPr>
              <a:t>n2i =</a:t>
            </a:r>
            <a:r>
              <a:rPr>
                <a:latin typeface="Courier"/>
              </a:rPr>
              <a:t> n_control,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mydata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拟合随机效应模型</a:t>
            </a:r>
            <a:br/>
            <a:r>
              <a:rPr>
                <a:latin typeface="Courier"/>
              </a:rPr>
              <a:t>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rma</a:t>
            </a:r>
            <a:r>
              <a:rPr>
                <a:latin typeface="Courier"/>
              </a:rPr>
              <a:t>(yi, vi,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dat)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(res)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绘制森林图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forest</a:t>
            </a:r>
            <a:r>
              <a:rPr>
                <a:latin typeface="Courier"/>
              </a:rPr>
              <a:t>(res, </a:t>
            </a:r>
            <a:r>
              <a:rPr>
                <a:solidFill>
                  <a:srgbClr val="7D9029"/>
                </a:solidFill>
                <a:latin typeface="Courier"/>
              </a:rPr>
              <a:t>slab =</a:t>
            </a:r>
            <a:r>
              <a:rPr>
                <a:latin typeface="Courier"/>
              </a:rPr>
              <a:t> dat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study, </a:t>
            </a:r>
            <a:r>
              <a:rPr>
                <a:solidFill>
                  <a:srgbClr val="7D9029"/>
                </a:solidFill>
                <a:latin typeface="Courier"/>
              </a:rPr>
              <a:t>xlab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 Response Ratio (lnRR)"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绘制漏斗图</a:t>
            </a:r>
            <a:br/>
            <a:r>
              <a:rPr>
                <a:solidFill>
                  <a:srgbClr val="06287E"/>
                </a:solidFill>
                <a:latin typeface="Courier"/>
              </a:rPr>
              <a:t>funnel</a:t>
            </a:r>
            <a:r>
              <a:rPr>
                <a:latin typeface="Courier"/>
              </a:rPr>
              <a:t>(res)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森林图阅读指南</a:t>
            </a:r>
          </a:p>
          <a:p>
            <a:pPr lvl="0"/>
            <a:r>
              <a:rPr b="1"/>
              <a:t>每行</a:t>
            </a:r>
            <a:r>
              <a:rPr/>
              <a:t>代表一项研究，方块大小反映该研究的权重</a:t>
            </a:r>
          </a:p>
          <a:p>
            <a:pPr lvl="0"/>
            <a:r>
              <a:rPr b="1"/>
              <a:t>水平线</a:t>
            </a:r>
            <a:r>
              <a:rPr/>
              <a:t>为该研究效应量的 95% 置信区间</a:t>
            </a:r>
          </a:p>
          <a:p>
            <a:pPr lvl="0"/>
            <a:r>
              <a:rPr b="1"/>
              <a:t>菱形</a:t>
            </a:r>
            <a:r>
              <a:rPr/>
              <a:t>为合并后的总体效应量及置信区间</a:t>
            </a:r>
          </a:p>
          <a:p>
            <a:pPr lvl="0"/>
            <a:r>
              <a:rPr b="1"/>
              <a:t>虚线（零线）</a:t>
            </a:r>
            <a:r>
              <a:rPr/>
              <a:t>：lnRR = 0 表示无效应</a:t>
            </a:r>
          </a:p>
          <a:p>
            <a:pPr lvl="1"/>
            <a:r>
              <a:rPr/>
              <a:t>置信区间不跨越零线 → 效应显著</a:t>
            </a:r>
          </a:p>
          <a:p>
            <a:pPr lvl="1"/>
            <a:r>
              <a:rPr/>
              <a:t>置信区间跨越零线 → 效应不显著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异质性检验</a:t>
            </a:r>
          </a:p>
          <a:p>
            <a:pPr lvl="0"/>
            <a:r>
              <a:rPr b="1"/>
              <a:t>Q 检验</a:t>
            </a:r>
            <a:r>
              <a:rPr/>
              <a:t>：检验各研究效应量是否同质</a:t>
            </a:r>
          </a:p>
          <a:p>
            <a:pPr lvl="1"/>
            <a:r>
              <a:rPr/>
              <a:t>Q 值显著（p &lt; 0.05）→ 存在异质性</a:t>
            </a:r>
          </a:p>
          <a:p>
            <a:pPr lvl="0"/>
            <a:r>
              <a:rPr b="1"/>
              <a:t>I</a:t>
            </a:r>
            <a:r>
              <a:rPr b="1" baseline="30000"/>
              <a:t>2</a:t>
            </a:r>
            <a:r>
              <a:rPr b="1"/>
              <a:t> 统计量</a:t>
            </a:r>
            <a:r>
              <a:rPr/>
              <a:t>：异质性占总变异的百分比</a:t>
            </a:r>
          </a:p>
          <a:p>
            <a:pPr lvl="1"/>
            <a:r>
              <a:rPr/>
              <a:t>I</a:t>
            </a:r>
            <a:r>
              <a:rPr baseline="30000"/>
              <a:t>2</a:t>
            </a:r>
            <a:r>
              <a:rPr/>
              <a:t> &lt; 25%：低异质性</a:t>
            </a:r>
          </a:p>
          <a:p>
            <a:pPr lvl="1"/>
            <a:r>
              <a:rPr/>
              <a:t>I</a:t>
            </a:r>
            <a:r>
              <a:rPr baseline="30000"/>
              <a:t>2</a:t>
            </a:r>
            <a:r>
              <a:rPr/>
              <a:t> = 25%-75%：中等异质性</a:t>
            </a:r>
          </a:p>
          <a:p>
            <a:pPr lvl="1"/>
            <a:r>
              <a:rPr/>
              <a:t>I</a:t>
            </a:r>
            <a:r>
              <a:rPr baseline="30000"/>
              <a:t>2</a:t>
            </a:r>
            <a:r>
              <a:rPr/>
              <a:t> &gt; 75%：高异质性</a:t>
            </a:r>
          </a:p>
          <a:p>
            <a:pPr lvl="0"/>
            <a:r>
              <a:rPr b="1"/>
              <a:t>亚组分析</a:t>
            </a:r>
            <a:r>
              <a:rPr/>
              <a:t>：按调节变量（如气候带、土壤类型）分组，探究异质性来源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发表偏倚检测</a:t>
            </a:r>
          </a:p>
          <a:p>
            <a:pPr lvl="0"/>
            <a:r>
              <a:rPr b="1"/>
              <a:t>漏斗图（Funnel plot）</a:t>
            </a:r>
            <a:r>
              <a:rPr/>
              <a:t>：以效应量为横轴、标准误为纵轴</a:t>
            </a:r>
          </a:p>
          <a:p>
            <a:pPr lvl="1"/>
            <a:r>
              <a:rPr/>
              <a:t>对称 → 无明显发表偏倚</a:t>
            </a:r>
          </a:p>
          <a:p>
            <a:pPr lvl="1"/>
            <a:r>
              <a:rPr/>
              <a:t>不对称 → 可能存在发表偏倚</a:t>
            </a:r>
          </a:p>
          <a:p>
            <a:pPr lvl="0"/>
            <a:r>
              <a:rPr b="1"/>
              <a:t>Egger 回归检验</a:t>
            </a:r>
            <a:r>
              <a:rPr/>
              <a:t>：定量检测漏斗图不对称性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Egger 检验</a:t>
            </a:r>
            <a:br/>
            <a:r>
              <a:rPr>
                <a:solidFill>
                  <a:srgbClr val="06287E"/>
                </a:solidFill>
                <a:latin typeface="Courier"/>
              </a:rPr>
              <a:t>regtest</a:t>
            </a:r>
            <a:r>
              <a:rPr>
                <a:latin typeface="Courier"/>
              </a:rPr>
              <a:t>(res, </a:t>
            </a:r>
            <a:r>
              <a:rPr>
                <a:solidFill>
                  <a:srgbClr val="7D9029"/>
                </a:solidFill>
                <a:latin typeface="Courier"/>
              </a:rPr>
              <a:t>model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"lm"</a:t>
            </a:r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发表偏倚指显著结果更容易被发表，导致荟萃分析高估真实效应。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：效应量计算需要均值、标准差和样本量三要素，文献中缺少时需联系作者或使用转换公式</a:t>
            </a:r>
          </a:p>
          <a:p>
            <a:pPr lvl="0"/>
            <a:r>
              <a:rPr b="1"/>
              <a:t>要点二</a:t>
            </a:r>
            <a:r>
              <a:rPr/>
              <a:t>：优先选择随机效应模型，并报告 I</a:t>
            </a:r>
            <a:r>
              <a:rPr baseline="30000"/>
              <a:t>2</a:t>
            </a:r>
            <a:r>
              <a:rPr/>
              <a:t> 和 Q 检验结果</a:t>
            </a:r>
          </a:p>
          <a:p>
            <a:pPr lvl="0"/>
            <a:r>
              <a:rPr b="1"/>
              <a:t>要点三</a:t>
            </a:r>
            <a:r>
              <a:rPr/>
              <a:t>：务必检查发表偏倚，漏斗图和 Egger 检验应同时报告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：什么时候用 lnRR，什么时候用 Hedges’ g？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：当关注处理的相对变化（如增加了百分之多少）时用 lnRR；当数据包含负值或零值、或关注绝对差异时用 Hedges’ g。生态学中 lnRR 最为常用。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：I</a:t>
            </a:r>
            <a:r>
              <a:rPr baseline="30000"/>
              <a:t>2</a:t>
            </a:r>
            <a:r>
              <a:rPr/>
              <a:t> 很高说明荟萃分析结果不可靠吗？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：不一定。I</a:t>
            </a:r>
            <a:r>
              <a:rPr baseline="30000"/>
              <a:t>2</a:t>
            </a:r>
            <a:r>
              <a:rPr/>
              <a:t> 高说明研究间差异大，需要进一步做亚组分析或 meta-regression 探究异质性来源，而非直接否定结果。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荟萃分析是对多项独立研究进行定量加权综合的系统方法，广泛应用于处理效应评估和全球格局研究</a:t>
            </a:r>
          </a:p>
          <a:p>
            <a:pPr lvl="0" indent="-342900" marL="342900">
              <a:buAutoNum type="arabicPeriod"/>
            </a:pPr>
            <a:r>
              <a:rPr/>
              <a:t>效应量是荟萃分析的核心，生态学常用 lnRR（log response ratio），metafor 中用 </a:t>
            </a:r>
            <a:r>
              <a:rPr>
                <a:latin typeface="Courier"/>
              </a:rPr>
              <a:t>measure = "ROM"</a:t>
            </a:r>
            <a:r>
              <a:rPr/>
              <a:t> 计算</a:t>
            </a:r>
          </a:p>
          <a:p>
            <a:pPr lvl="0" indent="-342900" marL="342900">
              <a:buAutoNum type="arabicPeriod"/>
            </a:pPr>
            <a:r>
              <a:rPr/>
              <a:t>完整流程为 escalc() → rma() → forest() → funnel()，需同时报告异质性指标和发表偏倚检验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安装 metafor 包，使用内置数据集 </a:t>
            </a:r>
            <a:r>
              <a:rPr>
                <a:latin typeface="Courier"/>
              </a:rPr>
              <a:t>dat.bcg</a:t>
            </a:r>
            <a:r>
              <a:rPr/>
              <a:t> 完成一次完整的荟萃分析流程</a:t>
            </a:r>
          </a:p>
          <a:p>
            <a:pPr lvl="0"/>
            <a:r>
              <a:rPr/>
              <a:t>阅读一篇生态学荟萃分析论文，识别其中使用的效应量类型、模型选择和异质性报告</a:t>
            </a:r>
          </a:p>
          <a:p>
            <a:pPr lvl="0"/>
            <a:r>
              <a:rPr b="1"/>
              <a:t>选做</a:t>
            </a:r>
            <a:r>
              <a:rPr/>
              <a:t>：收集 3-5 篇同主题文献的数据，尝试计算 lnRR 并绘制森林图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Viechtbauer, W. (2010). Conducting meta-analyses in R with the metafor package. </a:t>
            </a:r>
            <a:r>
              <a:rPr i="1"/>
              <a:t>Journal of Statistical Software</a:t>
            </a:r>
            <a:r>
              <a:rPr/>
              <a:t>, 36(3), 1-48.</a:t>
            </a:r>
          </a:p>
          <a:p>
            <a:pPr lvl="0"/>
            <a:r>
              <a:rPr/>
              <a:t>Koricheva, J., Gurevitch, J., &amp; Mengersen, K. (2013). </a:t>
            </a:r>
            <a:r>
              <a:rPr i="1"/>
              <a:t>Handbook of Meta-analysis in Ecology and Evolution</a:t>
            </a:r>
            <a:r>
              <a:rPr/>
              <a:t>. Princeton University Press.</a:t>
            </a:r>
          </a:p>
          <a:p>
            <a:pPr lvl="0"/>
            <a:r>
              <a:rPr/>
              <a:t>metafor 包官方文档：</a:t>
            </a:r>
            <a:r>
              <a:rPr>
                <a:hlinkClick r:id="rId2"/>
              </a:rPr>
              <a:t>https://www.metafor-project.org/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荟萃分析入门</dc:title>
  <dc:creator>Huaqing Liu</dc:creator>
  <cp:keywords/>
  <dcterms:created xsi:type="dcterms:W3CDTF">2026-03-31T08:55:26Z</dcterms:created>
  <dcterms:modified xsi:type="dcterms:W3CDTF">2026-03-31T08:55:26Z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